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9b975080af41e4" /><Relationship Type="http://schemas.openxmlformats.org/officeDocument/2006/relationships/extended-properties" Target="/docProps/app.xml" Id="R3f23a77e1dac482d" /><Relationship Type="http://schemas.openxmlformats.org/officeDocument/2006/relationships/officeDocument" Target="/ppt/presentation.xml" Id="R84e1f468f3034f20" /></Relationships>
</file>

<file path=ppt/presentation.xml><?xml version="1.0" encoding="utf-8"?>
<p:presentation xmlns:p="http://schemas.openxmlformats.org/presentationml/2006/main">
  <p:sldMasterIdLst>
    <p:sldMasterId xmlns:r="http://schemas.openxmlformats.org/officeDocument/2006/relationships" id="2147483648" r:id="R659c5c769a2248a6"/>
  </p:sldMasterIdLst>
  <p:notesMasterIdLst>
    <p:notesMasterId xmlns:r="http://schemas.openxmlformats.org/officeDocument/2006/relationships" r:id="Rd5f3915d05db463f"/>
  </p:notesMasterIdLst>
  <p:sldIdLst>
    <p:sldId xmlns:r="http://schemas.openxmlformats.org/officeDocument/2006/relationships" id="256" r:id="Rb5351ade920243d7"/>
    <p:sldId xmlns:r="http://schemas.openxmlformats.org/officeDocument/2006/relationships" id="257" r:id="Raf32593bbf874356"/>
    <p:sldId xmlns:r="http://schemas.openxmlformats.org/officeDocument/2006/relationships" id="258" r:id="Rd622dac6f17e49eb"/>
    <p:sldId xmlns:r="http://schemas.openxmlformats.org/officeDocument/2006/relationships" id="259" r:id="R463c71fd01644fa9"/>
    <p:sldId xmlns:r="http://schemas.openxmlformats.org/officeDocument/2006/relationships" id="260" r:id="Rffaeb2459c9e46f9"/>
    <p:sldId xmlns:r="http://schemas.openxmlformats.org/officeDocument/2006/relationships" id="261" r:id="R0ee5ff8468a048b4"/>
    <p:sldId xmlns:r="http://schemas.openxmlformats.org/officeDocument/2006/relationships" id="262" r:id="R2ae08a244afd4a63"/>
    <p:sldId xmlns:r="http://schemas.openxmlformats.org/officeDocument/2006/relationships" id="263" r:id="R8361564e980944d3"/>
    <p:sldId xmlns:r="http://schemas.openxmlformats.org/officeDocument/2006/relationships" id="264" r:id="R2a264a57377d4d39"/>
    <p:sldId xmlns:r="http://schemas.openxmlformats.org/officeDocument/2006/relationships" id="265" r:id="R8eb66e8f98574566"/>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979dae152264139" /><Relationship Type="http://schemas.openxmlformats.org/officeDocument/2006/relationships/slideMaster" Target="/ppt/slideMasters/slideMaster1.xml" Id="R659c5c769a2248a6" /><Relationship Type="http://schemas.openxmlformats.org/officeDocument/2006/relationships/notesMaster" Target="/ppt/notesMasters/notesMaster1.xml" Id="Rd5f3915d05db463f" /><Relationship Type="http://schemas.openxmlformats.org/officeDocument/2006/relationships/presProps" Target="/ppt/presProps.xml" Id="Ra878e7bc29be4990" /><Relationship Type="http://schemas.openxmlformats.org/officeDocument/2006/relationships/viewProps" Target="/ppt/viewProps.xml" Id="Rf51481a9bdef4f53" /><Relationship Type="http://schemas.openxmlformats.org/officeDocument/2006/relationships/tableStyles" Target="/ppt/tableStyles.xml" Id="R6c1cf9c1e1d94b4c" /><Relationship Type="http://schemas.openxmlformats.org/officeDocument/2006/relationships/slide" Target="/ppt/slides/slide1.xml" Id="Rb5351ade920243d7" /><Relationship Type="http://schemas.openxmlformats.org/officeDocument/2006/relationships/slide" Target="/ppt/slides/slide2.xml" Id="Raf32593bbf874356" /><Relationship Type="http://schemas.openxmlformats.org/officeDocument/2006/relationships/slide" Target="/ppt/slides/slide3.xml" Id="Rd622dac6f17e49eb" /><Relationship Type="http://schemas.openxmlformats.org/officeDocument/2006/relationships/slide" Target="/ppt/slides/slide4.xml" Id="R463c71fd01644fa9" /><Relationship Type="http://schemas.openxmlformats.org/officeDocument/2006/relationships/slide" Target="/ppt/slides/slide5.xml" Id="Rffaeb2459c9e46f9" /><Relationship Type="http://schemas.openxmlformats.org/officeDocument/2006/relationships/slide" Target="/ppt/slides/slide6.xml" Id="R0ee5ff8468a048b4" /><Relationship Type="http://schemas.openxmlformats.org/officeDocument/2006/relationships/slide" Target="/ppt/slides/slide7.xml" Id="R2ae08a244afd4a63" /><Relationship Type="http://schemas.openxmlformats.org/officeDocument/2006/relationships/slide" Target="/ppt/slides/slide8.xml" Id="R8361564e980944d3" /><Relationship Type="http://schemas.openxmlformats.org/officeDocument/2006/relationships/slide" Target="/ppt/slides/slide9.xml" Id="R2a264a57377d4d39" /><Relationship Type="http://schemas.openxmlformats.org/officeDocument/2006/relationships/slide" Target="/ppt/slides/slide10.xml" Id="R8eb66e8f985745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446aeeb22845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apstone Meeting">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15a798eb4d467e" /><Relationship Type="http://schemas.openxmlformats.org/officeDocument/2006/relationships/notesMaster" Target="/ppt/notesMasters/notesMaster1.xml" Id="R95134eab09514f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707e178aba49b9" /><Relationship Type="http://schemas.openxmlformats.org/officeDocument/2006/relationships/notesMaster" Target="/ppt/notesMasters/notesMaster1.xml" Id="R7d48fdc7b8124d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5c50c7192542e2" /><Relationship Type="http://schemas.openxmlformats.org/officeDocument/2006/relationships/notesMaster" Target="/ppt/notesMasters/notesMaster1.xml" Id="Reb040604af8b44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2d86d0979648ae" /><Relationship Type="http://schemas.openxmlformats.org/officeDocument/2006/relationships/notesMaster" Target="/ppt/notesMasters/notesMaster1.xml" Id="Rc4350f2a3bda42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818ebcece2430c" /><Relationship Type="http://schemas.openxmlformats.org/officeDocument/2006/relationships/notesMaster" Target="/ppt/notesMasters/notesMaster1.xml" Id="R4fbf14abf4b44b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81b8a352bd4f86" /><Relationship Type="http://schemas.openxmlformats.org/officeDocument/2006/relationships/notesMaster" Target="/ppt/notesMasters/notesMaster1.xml" Id="R63e1f4ec68034f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838a8636954efb" /><Relationship Type="http://schemas.openxmlformats.org/officeDocument/2006/relationships/notesMaster" Target="/ppt/notesMasters/notesMaster1.xml" Id="R62b7e5c68bc043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96017c68bf42e5" /><Relationship Type="http://schemas.openxmlformats.org/officeDocument/2006/relationships/notesMaster" Target="/ppt/notesMasters/notesMaster1.xml" Id="Rea3f5e48e3d649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7d10eac92b47e1" /><Relationship Type="http://schemas.openxmlformats.org/officeDocument/2006/relationships/notesMaster" Target="/ppt/notesMasters/notesMaster1.xml" Id="R5cb68283b99845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baeb5b945c46b4" /><Relationship Type="http://schemas.openxmlformats.org/officeDocument/2006/relationships/notesMaster" Target="/ppt/notesMasters/notesMaster1.xml" Id="Rd9010855852143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a:t>
            </a:r>
          </a:p>
          <a:p xmlns:a="http://schemas.openxmlformats.org/drawingml/2006/main">
            <a:r>
              <a:t/>
            </a:r>
          </a:p>
          <a:p xmlns:a="http://schemas.openxmlformats.org/drawingml/2006/main">
            <a:r>
              <a:t>Say: Good morning. We are presenting KubeView, a read-only Kubernetes dashboard that combines live cluster inspection with short-window historical replay. The project was developed by Ankur Kalita, Pradyut Fogla, and Varun Deep Saini under the guidance of Charan.</a:t>
            </a:r>
          </a:p>
          <a:p xmlns:a="http://schemas.openxmlformats.org/drawingml/2006/main">
            <a:r>
              <a:t/>
            </a:r>
          </a:p>
          <a:p xmlns:a="http://schemas.openxmlformats.org/drawingml/2006/main">
            <a:r>
              <a:t>[Sources]</a:t>
            </a:r>
          </a:p>
          <a:p xmlns:a="http://schemas.openxmlformats.org/drawingml/2006/main">
            <a:r>
              <a:t>- Official BITS Capstone Project 15 Minute Demo Template</a:t>
            </a:r>
          </a:p>
          <a:p xmlns:a="http://schemas.openxmlformats.org/drawingml/2006/main">
            <a:r>
              <a:t>- KubeView final report cover page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0:30-1:30</a:t>
            </a:r>
          </a:p>
          <a:p xmlns:a="http://schemas.openxmlformats.org/drawingml/2006/main">
            <a:r>
              <a:t/>
            </a:r>
          </a:p>
          <a:p xmlns:a="http://schemas.openxmlformats.org/drawingml/2006/main">
            <a:r>
              <a:t>Say: Kubernetes exposes rich state, but diagnosis is fragmented. An operator often joins the output of several kubectl commands mentally. Existing dashboards are useful for the current state, while a full metrics and log stack can be excessive for a small deployment. Our problem statement became one operational question: what changed, and when?</a:t>
            </a:r>
          </a:p>
          <a:p xmlns:a="http://schemas.openxmlformats.org/drawingml/2006/main">
            <a:r>
              <a:t/>
            </a:r>
          </a:p>
          <a:p xmlns:a="http://schemas.openxmlformats.org/drawingml/2006/main">
            <a:r>
              <a:t>[Sources]</a:t>
            </a:r>
          </a:p>
          <a:p xmlns:a="http://schemas.openxmlformats.org/drawingml/2006/main">
            <a:r>
              <a:t>- KubeView final report, sections 1.1 and 1.2</a:t>
            </a:r>
          </a:p>
          <a:p xmlns:a="http://schemas.openxmlformats.org/drawingml/2006/main">
            <a:r>
              <a:t>- https://kubernetes.io/docs/reference/kubectl/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1:30-2:25</a:t>
            </a:r>
          </a:p>
          <a:p xmlns:a="http://schemas.openxmlformats.org/drawingml/2006/main">
            <a:r>
              <a:t/>
            </a:r>
          </a:p>
          <a:p xmlns:a="http://schemas.openxmlformats.org/drawingml/2006/main">
            <a:r>
              <a:t>Say: The implementation scope had five positive goals and a strict boundary. We cover resource inspection, logs, live updates, context switching, and historical reconstruction. We deliberately excluded mutation, built-in identity management, metrics, tracing, and custom resources. This keeps the project focused and preserves a read-only operating model.</a:t>
            </a:r>
          </a:p>
          <a:p xmlns:a="http://schemas.openxmlformats.org/drawingml/2006/main">
            <a:r>
              <a:t/>
            </a:r>
          </a:p>
          <a:p xmlns:a="http://schemas.openxmlformats.org/drawingml/2006/main">
            <a:r>
              <a:t>[Sources]</a:t>
            </a:r>
          </a:p>
          <a:p xmlns:a="http://schemas.openxmlformats.org/drawingml/2006/main">
            <a:r>
              <a:t>- KubeView final report, sections 1.3 and 1.4</a:t>
            </a:r>
          </a:p>
          <a:p xmlns:a="http://schemas.openxmlformats.org/drawingml/2006/main">
            <a:r>
              <a:t>- Repository README at commit 8ee601c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2:25-3:25</a:t>
            </a:r>
          </a:p>
          <a:p xmlns:a="http://schemas.openxmlformats.org/drawingml/2006/main">
            <a:r>
              <a:t/>
            </a:r>
          </a:p>
          <a:p xmlns:a="http://schemas.openxmlformats.org/drawingml/2006/main">
            <a:r>
              <a:t>Say: KubeView does not try to replace kubectl, Kubernetes Dashboard, Lens, Grafana, or Loki. Its contribution is narrower. It puts current resources, container logs, live changes, and a recent historical state in one read-only browser workflow without requiring a separate observability platform.</a:t>
            </a:r>
          </a:p>
          <a:p xmlns:a="http://schemas.openxmlformats.org/drawingml/2006/main">
            <a:r>
              <a:t/>
            </a:r>
          </a:p>
          <a:p xmlns:a="http://schemas.openxmlformats.org/drawingml/2006/main">
            <a:r>
              <a:t>[Sources]</a:t>
            </a:r>
          </a:p>
          <a:p xmlns:a="http://schemas.openxmlformats.org/drawingml/2006/main">
            <a:r>
              <a:t>- KubeView final report, section 1.2</a:t>
            </a:r>
          </a:p>
          <a:p xmlns:a="http://schemas.openxmlformats.org/drawingml/2006/main">
            <a:r>
              <a:t>- https://kubernetes.io/docs/tasks/access-application-cluster/web-ui-dashboard/</a:t>
            </a:r>
          </a:p>
          <a:p xmlns:a="http://schemas.openxmlformats.org/drawingml/2006/main">
            <a:r>
              <a:t>- https://grafana.com/docs/loki/latest/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3:25-4:45</a:t>
            </a:r>
          </a:p>
          <a:p xmlns:a="http://schemas.openxmlformats.org/drawingml/2006/main">
            <a:r>
              <a:t/>
            </a:r>
          </a:p>
          <a:p xmlns:a="http://schemas.openxmlformats.org/drawingml/2006/main">
            <a:r>
              <a:t>Say: The browser loads a Next.js frontend and calls the Go backend over REST and Server-Sent Events. The backend is the security boundary because it holds the selected Kubernetes credentials. It uses the official client-go library for list, get and watch operations. The flight recorder writes transformed resource versions and deletion tombstones into bbolt, then reconstructs state at a requested timestamp. Production manifests grant only get, list, and watch permissions.</a:t>
            </a:r>
          </a:p>
          <a:p xmlns:a="http://schemas.openxmlformats.org/drawingml/2006/main">
            <a:r>
              <a:t/>
            </a:r>
          </a:p>
          <a:p xmlns:a="http://schemas.openxmlformats.org/drawingml/2006/main">
            <a:r>
              <a:t>[Sources]</a:t>
            </a:r>
          </a:p>
          <a:p xmlns:a="http://schemas.openxmlformats.org/drawingml/2006/main">
            <a:r>
              <a:t>- Local visual: submission/architecture/system-context.png</a:t>
            </a:r>
          </a:p>
          <a:p xmlns:a="http://schemas.openxmlformats.org/drawingml/2006/main">
            <a:r>
              <a:t>- KubeView final report, section 2.1</a:t>
            </a:r>
          </a:p>
          <a:p xmlns:a="http://schemas.openxmlformats.org/drawingml/2006/main">
            <a:r>
              <a:t>- Repository source at commit 8ee601c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4:45-5:35</a:t>
            </a:r>
          </a:p>
          <a:p xmlns:a="http://schemas.openxmlformats.org/drawingml/2006/main">
            <a:r>
              <a:t/>
            </a:r>
          </a:p>
          <a:p xmlns:a="http://schemas.openxmlformats.org/drawingml/2006/main">
            <a:r>
              <a:t>Say: The stack stays deliberately small. Go provides the backend and concurrency model, the standard HTTP library avoids an unnecessary web framework, and client-go gives supported Kubernetes access. Next.js and React provide the browser interface. bbolt keeps history local and deployment simple. CI combines language-level tests, browser tests, static analysis, vulnerability checks, and real-cluster execution.</a:t>
            </a:r>
          </a:p>
          <a:p xmlns:a="http://schemas.openxmlformats.org/drawingml/2006/main">
            <a:r>
              <a:t/>
            </a:r>
          </a:p>
          <a:p xmlns:a="http://schemas.openxmlformats.org/drawingml/2006/main">
            <a:r>
              <a:t>[Sources]</a:t>
            </a:r>
          </a:p>
          <a:p xmlns:a="http://schemas.openxmlformats.org/drawingml/2006/main">
            <a:r>
              <a:t>- KubeView final report, table 1 and section 2.2</a:t>
            </a:r>
          </a:p>
          <a:p xmlns:a="http://schemas.openxmlformats.org/drawingml/2006/main">
            <a:r>
              <a:t>- Repository go.mod and kubeview-frontend/package.json at commit 8ee601c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5:35-10:15, including the 4:20 recording</a:t>
            </a:r>
          </a:p>
          <a:p xmlns:a="http://schemas.openxmlformats.org/drawingml/2006/main">
            <a:r>
              <a:t/>
            </a:r>
          </a:p>
          <a:p xmlns:a="http://schemas.openxmlformats.org/drawingml/2006/main">
            <a:r>
              <a:t>Presenter action: Before final submission, insert the MOV file or add a portable hyperlink over the dashboard image. Start the recording after this introduction.</a:t>
            </a:r>
          </a:p>
          <a:p xmlns:a="http://schemas.openxmlformats.org/drawingml/2006/main">
            <a:r>
              <a:t/>
            </a:r>
          </a:p>
          <a:p xmlns:a="http://schemas.openxmlformats.org/drawingml/2006/main">
            <a:r>
              <a:t>Say before playback: The demo uses a disposable Kubernetes namespace. It shows the dashboard, namespace and search filters, pod detail, multi-container log selection, pause and resume buffering, Secret metadata protection, a kubectl scale from two to three replicas without refreshing the page, correlated Events, and the flight recorder timeline comparison.</a:t>
            </a:r>
          </a:p>
          <a:p xmlns:a="http://schemas.openxmlformats.org/drawingml/2006/main">
            <a:r>
              <a:t/>
            </a:r>
          </a:p>
          <a:p xmlns:a="http://schemas.openxmlformats.org/drawingml/2006/main">
            <a:r>
              <a:t>After playback say: The visible scale update proves the watch and SSE path, while the earlier-state and diff views prove that KubeView can reconstruct more than the present state.</a:t>
            </a:r>
          </a:p>
          <a:p xmlns:a="http://schemas.openxmlformats.org/drawingml/2006/main">
            <a:r>
              <a:t/>
            </a:r>
          </a:p>
          <a:p xmlns:a="http://schemas.openxmlformats.org/drawingml/2006/main">
            <a:r>
              <a:t>[Sources]</a:t>
            </a:r>
          </a:p>
          <a:p xmlns:a="http://schemas.openxmlformats.org/drawingml/2006/main">
            <a:r>
              <a:t>- Local visual: screenshots/01-dashboard.png</a:t>
            </a:r>
          </a:p>
          <a:p xmlns:a="http://schemas.openxmlformats.org/drawingml/2006/main">
            <a:r>
              <a:t>- Recorded demo: /Users/pradyut/Movies/2026-08-28 18-39-02.mov</a:t>
            </a:r>
          </a:p>
          <a:p xmlns:a="http://schemas.openxmlformats.org/drawingml/2006/main">
            <a:r>
              <a:t>- Demo runbook: submission/drafts/DEMO_AND_VIVA_GUIDE.md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10:15-11:25</a:t>
            </a:r>
          </a:p>
          <a:p xmlns:a="http://schemas.openxmlformats.org/drawingml/2006/main">
            <a:r>
              <a:t/>
            </a:r>
          </a:p>
          <a:p xmlns:a="http://schemas.openxmlformats.org/drawingml/2006/main">
            <a:r>
              <a:t>Say: Validation is layered. The backend contains 227 Go test functions, including handlers, transformers, context isolation, concurrent streams, history retention and tombstones. The frontend has 60 unit tests. The 45 Playwright cases start a real kind cluster and drive the actual Go and Next.js applications through browser workflows. CI also runs the race detector, lint, type checking, production builds, CodeQL and govulncheck. These are test counts and pass evidence, not code-coverage percentages.</a:t>
            </a:r>
          </a:p>
          <a:p xmlns:a="http://schemas.openxmlformats.org/drawingml/2006/main">
            <a:r>
              <a:t/>
            </a:r>
          </a:p>
          <a:p xmlns:a="http://schemas.openxmlformats.org/drawingml/2006/main">
            <a:r>
              <a:t>[Sources]</a:t>
            </a:r>
          </a:p>
          <a:p xmlns:a="http://schemas.openxmlformats.org/drawingml/2006/main">
            <a:r>
              <a:t>- Repository test inventory at commit 8ee601c</a:t>
            </a:r>
          </a:p>
          <a:p xmlns:a="http://schemas.openxmlformats.org/drawingml/2006/main">
            <a:r>
              <a:t>- GitHub Actions run https://github.com/varundeepsaini/kubeview/actions/runs/33142315221</a:t>
            </a:r>
          </a:p>
          <a:p xmlns:a="http://schemas.openxmlformats.org/drawingml/2006/main">
            <a:r>
              <a:t>- submission/drafts/VALIDATION_REPORT.md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11:25-12:30</a:t>
            </a:r>
          </a:p>
          <a:p xmlns:a="http://schemas.openxmlformats.org/drawingml/2006/main">
            <a:r>
              <a:t/>
            </a:r>
          </a:p>
          <a:p xmlns:a="http://schemas.openxmlformats.org/drawingml/2006/main">
            <a:r>
              <a:t>Say: Three implementation problems required careful handling. Streams can disconnect, pod container arrays cannot be joined safely by index, and historical deletions need tombstones. We solved each with explicit recovery and identity rules. The remaining limits are also explicit: authentication must sit in front of shared deployments, bbolt is a single-writer local store, and the product is not a metrics, tracing, or long-term log platform.</a:t>
            </a:r>
          </a:p>
          <a:p xmlns:a="http://schemas.openxmlformats.org/drawingml/2006/main">
            <a:r>
              <a:t/>
            </a:r>
          </a:p>
          <a:p xmlns:a="http://schemas.openxmlformats.org/drawingml/2006/main">
            <a:r>
              <a:t>[Sources]</a:t>
            </a:r>
          </a:p>
          <a:p xmlns:a="http://schemas.openxmlformats.org/drawingml/2006/main">
            <a:r>
              <a:t>- KubeView final report, sections 2.4, 6.3 and 6.4</a:t>
            </a:r>
          </a:p>
          <a:p xmlns:a="http://schemas.openxmlformats.org/drawingml/2006/main">
            <a:r>
              <a:t>- Repository source and tests at commit 8ee601c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12:30-13:30, leaving approximately 90 seconds for transition or questions</a:t>
            </a:r>
          </a:p>
          <a:p xmlns:a="http://schemas.openxmlformats.org/drawingml/2006/main">
            <a:r>
              <a:t/>
            </a:r>
          </a:p>
          <a:p xmlns:a="http://schemas.openxmlformats.org/drawingml/2006/main">
            <a:r>
              <a:t>Say: KubeView delivers a working read-only Kubernetes inspection tool with live updates, container logs, context isolation, and recent historical comparison. The clearest future steps are authentication, shared history storage, larger-scale measurement, accessibility validation, metrics, and CRD support. The final outcome is simple: an operator can answer what is wrong now and what changed before it. Thank you.</a:t>
            </a:r>
          </a:p>
          <a:p xmlns:a="http://schemas.openxmlformats.org/drawingml/2006/main">
            <a:r>
              <a:t/>
            </a:r>
          </a:p>
          <a:p xmlns:a="http://schemas.openxmlformats.org/drawingml/2006/main">
            <a:r>
              <a:t>[Sources]</a:t>
            </a:r>
          </a:p>
          <a:p xmlns:a="http://schemas.openxmlformats.org/drawingml/2006/main">
            <a:r>
              <a:t>- KubeView final report, chapter 6</a:t>
            </a:r>
          </a:p>
          <a:p xmlns:a="http://schemas.openxmlformats.org/drawingml/2006/main">
            <a:r>
              <a:t>- Repository README at commit 8ee601c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94d6880df2405a" /><Relationship Type="http://schemas.openxmlformats.org/officeDocument/2006/relationships/image" Target="/ppt/media/image.png" Id="Ra176813124664ad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1efacdfc09d461a" /><Relationship Type="http://schemas.openxmlformats.org/officeDocument/2006/relationships/image" Target="/ppt/media/image.png" Id="Rbb98c50f343142f2" /><Relationship Type="http://schemas.openxmlformats.org/officeDocument/2006/relationships/image" Target="/ppt/media/image2.png" Id="R6a51f06dd3c64385" /><Relationship Type="http://schemas.openxmlformats.org/officeDocument/2006/relationships/image" Target="/ppt/media/image3.png" Id="Rfd1d45ca1e314b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212b33672524a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021db17b925448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2316b150d804c5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3f89e863f3d4c1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999ae1d99654d7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bf6fe8ff57f4d7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9f590da74f54ca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6736794582f4e2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994e3bd23bf4b94"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B186C9-2BBA-55D0-BD4B-F8B71E2ECF16}"/>
              </a:ext>
            </a:extLst>
          </p:cNvPr>
          <p:cNvSpPr>
            <a:spLocks xmlns:a="http://schemas.openxmlformats.org/drawingml/2006/main" noGrp="1"/>
          </p:cNvSpPr>
          <p:nvPr>
            <p:ph type="ctrTitle" idx="0"/>
          </p:nvPr>
        </p:nvSpPr>
        <p:spPr>
          <a:xfrm xmlns:a="http://schemas.openxmlformats.org/drawingml/2006/main">
            <a:off x="1143000" y="1122363"/>
            <a:ext cx="6858000" cy="2387600"/>
          </a:xfrm>
        </p:spPr>
        <p:txBody>
          <a:bodyPr xmlns:a="http://schemas.openxmlformats.org/drawingml/2006/main" anchor="b"/>
          <a:lstStyle xmlns:a="http://schemas.openxmlformats.org/drawingml/2006/main">
            <a:lvl1pPr algn="ctr">
              <a:buNone/>
              <a:defRPr sz="45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954DE6BA-4AE7-822A-85CC-92BCCD9D6A26}"/>
              </a:ext>
            </a:extLst>
          </p:cNvPr>
          <p:cNvSpPr>
            <a:spLocks xmlns:a="http://schemas.openxmlformats.org/drawingml/2006/main" noGrp="1"/>
          </p:cNvSpPr>
          <p:nvPr>
            <p:ph type="subTitle" idx="1"/>
          </p:nvPr>
        </p:nvSpPr>
        <p:spPr>
          <a:xfrm xmlns:a="http://schemas.openxmlformats.org/drawingml/2006/main">
            <a:off x="1143000" y="3602038"/>
            <a:ext cx="6858000" cy="1655762"/>
          </a:xfrm>
        </p:spPr>
        <p:txBody>
          <a:bodyPr xmlns:a="http://schemas.openxmlformats.org/drawingml/2006/main"/>
          <a:lstStyle xmlns:a="http://schemas.openxmlformats.org/drawingml/2006/main">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D707BC8C-59D5-7186-B66E-4FCA965220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2/10/2026</a:t>
            </a:fld>
            <a:endParaRPr/>
          </a:p>
        </p:txBody>
      </p:sp>
      <p:sp>
        <p:nvSpPr>
          <p:cNvPr id="5" name="Footer Placeholder 4">
            <a:extLst xmlns:a="http://schemas.openxmlformats.org/drawingml/2006/main">
              <a:ext uri="{FF2B5EF4-FFF2-40B4-BE49-F238E27FC236}">
                <a16:creationId xmlns:a16="http://schemas.microsoft.com/office/drawing/2014/main" id="{B7F99DD2-136E-B005-965D-33285448D7C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0DD1715-6A40-FAAC-BD2C-F7BE86FD89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pic>
        <p:nvPicPr>
          <p:cNvPr id="13" name="Picture 6"/>
          <p:cNvPicPr>
            <a:picLocks xmlns:a="http://schemas.openxmlformats.org/drawingml/2006/main" noChangeAspect="1"/>
          </p:cNvPicPr>
          <p:nvPr/>
        </p:nvPicPr>
        <p:blipFill>
          <a:blip xmlns:r="http://schemas.openxmlformats.org/officeDocument/2006/relationships" xmlns:a="http://schemas.openxmlformats.org/drawingml/2006/main" r:embed="Ra176813124664ad6"/>
          <a:stretch xmlns:a="http://schemas.openxmlformats.org/drawingml/2006/main">
            <a:fillRect l="0" t="0" r="0" b="0"/>
          </a:stretch>
        </p:blipFill>
        <p:spPr>
          <a:xfrm xmlns:a="http://schemas.openxmlformats.org/drawingml/2006/main">
            <a:off x="-2" y="6466115"/>
            <a:ext cx="9153000" cy="108000"/>
          </a:xfrm>
          <a:prstGeom xmlns:a="http://schemas.openxmlformats.org/drawingml/2006/main" prst="rect">
            <a:avLst/>
          </a:prstGeom>
        </p:spPr>
      </p:pic>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7E8838B-2600-6588-AFF2-968994DAE8E7}"/>
              </a:ext>
            </a:extLst>
          </p:cNvPr>
          <p:cNvSpPr>
            <a:spLocks xmlns:a="http://schemas.openxmlformats.org/drawingml/2006/main" noGrp="1"/>
          </p:cNvSpPr>
          <p:nvPr>
            <p:ph type="title" idx="0"/>
          </p:nvPr>
        </p:nvSpPr>
        <p:spPr>
          <a:xfrm xmlns:a="http://schemas.openxmlformats.org/drawingml/2006/main">
            <a:off x="331470" y="349886"/>
            <a:ext cx="6995160" cy="930665"/>
          </a:xfrm>
        </p:spPr>
        <p:txBody>
          <a:bodyPr xmlns:a="http://schemas.openxmlformats.org/drawingml/2006/main"/>
          <a:lstStyle xmlns:a="http://schemas.openxmlformats.org/drawingml/2006/main">
            <a:lvl1pPr>
              <a:buNone/>
              <a:defRPr b="1" i="0">
                <a:latin typeface="Arial Narrow"/>
                <a:ea typeface="Arial Narrow"/>
                <a:cs typeface="Arial Narrow"/>
              </a:defRPr>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37DF390-C3B8-3F09-F40D-85696C04CD79}"/>
              </a:ext>
            </a:extLst>
          </p:cNvPr>
          <p:cNvSpPr>
            <a:spLocks xmlns:a="http://schemas.openxmlformats.org/drawingml/2006/main" noGrp="1"/>
          </p:cNvSpPr>
          <p:nvPr>
            <p:ph idx="1"/>
          </p:nvPr>
        </p:nvSpPr>
        <p:spPr>
          <a:xfrm xmlns:a="http://schemas.openxmlformats.org/drawingml/2006/main">
            <a:off x="400050" y="1825625"/>
            <a:ext cx="8492490" cy="4351338"/>
          </a:xfrm>
        </p:spPr>
        <p:txBody>
          <a:bodyPr xmlns:a="http://schemas.openxmlformats.org/drawingml/2006/main">
            <a:normAutofit/>
          </a:bodyPr>
          <a:lstStyle xmlns:a="http://schemas.openxmlformats.org/drawingml/2006/main">
            <a:lvl1pPr>
              <a:buNone/>
              <a:defRPr sz="1800"/>
            </a:lvl1pPr>
            <a:lvl2pPr>
              <a:buNone/>
              <a:defRPr sz="1500"/>
            </a:lvl2pPr>
            <a:lvl3pPr>
              <a:buNone/>
              <a:defRPr sz="1350"/>
            </a:lvl3pPr>
            <a:lvl4pPr>
              <a:buNone/>
              <a:defRPr sz="1200"/>
            </a:lvl4pPr>
            <a:lvl5pPr>
              <a:buNone/>
              <a:defRPr sz="12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pic>
        <p:nvPicPr>
          <p:cNvPr id="9" name="Picture 6"/>
          <p:cNvPicPr>
            <a:picLocks xmlns:a="http://schemas.openxmlformats.org/drawingml/2006/main" noChangeAspect="1"/>
          </p:cNvPicPr>
          <p:nvPr/>
        </p:nvPicPr>
        <p:blipFill>
          <a:blip xmlns:r="http://schemas.openxmlformats.org/officeDocument/2006/relationships" xmlns:a="http://schemas.openxmlformats.org/drawingml/2006/main" r:embed="Rbb98c50f343142f2"/>
          <a:stretch xmlns:a="http://schemas.openxmlformats.org/drawingml/2006/main">
            <a:fillRect l="0" t="0" r="0" b="0"/>
          </a:stretch>
        </p:blipFill>
        <p:spPr>
          <a:xfrm xmlns:a="http://schemas.openxmlformats.org/drawingml/2006/main">
            <a:off x="-2" y="6466115"/>
            <a:ext cx="9153000" cy="108000"/>
          </a:xfrm>
          <a:prstGeom xmlns:a="http://schemas.openxmlformats.org/drawingml/2006/main" prst="rect">
            <a:avLst/>
          </a:prstGeom>
        </p:spPr>
      </p:pic>
      <p:pic>
        <p:nvPicPr>
          <p:cNvPr id="10" name="Picture 7"/>
          <p:cNvPicPr>
            <a:picLocks xmlns:a="http://schemas.openxmlformats.org/drawingml/2006/main" noChangeAspect="1"/>
          </p:cNvPicPr>
          <p:nvPr/>
        </p:nvPicPr>
        <p:blipFill>
          <a:blip xmlns:r="http://schemas.openxmlformats.org/officeDocument/2006/relationships" xmlns:a="http://schemas.openxmlformats.org/drawingml/2006/main" r:embed="R6a51f06dd3c64385"/>
          <a:stretch xmlns:a="http://schemas.openxmlformats.org/drawingml/2006/main">
            <a:fillRect l="0" t="0" r="0" b="0"/>
          </a:stretch>
        </p:blipFill>
        <p:spPr>
          <a:xfrm xmlns:a="http://schemas.openxmlformats.org/drawingml/2006/main">
            <a:off x="-2" y="1295791"/>
            <a:ext cx="3348990" cy="103523"/>
          </a:xfrm>
          <a:prstGeom xmlns:a="http://schemas.openxmlformats.org/drawingml/2006/main" prst="rect">
            <a:avLst/>
          </a:prstGeom>
        </p:spPr>
      </p:pic>
      <p:pic>
        <p:nvPicPr>
          <p:cNvPr id="11" name="Picture 8"/>
          <p:cNvPicPr>
            <a:picLocks xmlns:a="http://schemas.openxmlformats.org/drawingml/2006/main" noChangeAspect="1"/>
          </p:cNvPicPr>
          <p:nvPr/>
        </p:nvPicPr>
        <p:blipFill>
          <a:blip xmlns:r="http://schemas.openxmlformats.org/officeDocument/2006/relationships" xmlns:a="http://schemas.openxmlformats.org/drawingml/2006/main" r:embed="Rfd1d45ca1e314b76"/>
          <a:stretch xmlns:a="http://schemas.openxmlformats.org/drawingml/2006/main">
            <a:fillRect l="0" t="0" r="0" b="0"/>
          </a:stretch>
        </p:blipFill>
        <p:spPr>
          <a:xfrm xmlns:a="http://schemas.openxmlformats.org/drawingml/2006/main">
            <a:off x="7559040" y="405951"/>
            <a:ext cx="1333500" cy="679450"/>
          </a:xfrm>
          <a:prstGeom xmlns:a="http://schemas.openxmlformats.org/drawingml/2006/main" prst="rect">
            <a:avLst/>
          </a:prstGeom>
        </p:spPr>
      </p:pic>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468431-87F8-377B-002F-8008220780F5}"/>
              </a:ext>
            </a:extLst>
          </p:cNvPr>
          <p:cNvSpPr>
            <a:spLocks xmlns:a="http://schemas.openxmlformats.org/drawingml/2006/main" noGrp="1"/>
          </p:cNvSpPr>
          <p:nvPr>
            <p:ph type="title" idx="0"/>
          </p:nvPr>
        </p:nvSpPr>
        <p:spPr>
          <a:xfrm xmlns:a="http://schemas.openxmlformats.org/drawingml/2006/main">
            <a:off x="623888" y="1709739"/>
            <a:ext cx="7886700" cy="2852737"/>
          </a:xfrm>
        </p:spPr>
        <p:txBody>
          <a:bodyPr xmlns:a="http://schemas.openxmlformats.org/drawingml/2006/main" anchor="b"/>
          <a:lstStyle xmlns:a="http://schemas.openxmlformats.org/drawingml/2006/main">
            <a:lvl1pPr>
              <a:buNone/>
              <a:defRPr sz="45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2CCB87CB-EC0D-AC03-913E-540103ABA3DD}"/>
              </a:ext>
            </a:extLst>
          </p:cNvPr>
          <p:cNvSpPr>
            <a:spLocks xmlns:a="http://schemas.openxmlformats.org/drawingml/2006/main" noGrp="1"/>
          </p:cNvSpPr>
          <p:nvPr>
            <p:ph type="body" idx="1"/>
          </p:nvPr>
        </p:nvSpPr>
        <p:spPr>
          <a:xfrm xmlns:a="http://schemas.openxmlformats.org/drawingml/2006/main">
            <a:off x="623888" y="4589464"/>
            <a:ext cx="7886700" cy="1500187"/>
          </a:xfrm>
        </p:spPr>
        <p:txBody>
          <a:bodyPr xmlns:a="http://schemas.openxmlformats.org/drawingml/2006/main"/>
          <a:lstStyle xmlns:a="http://schemas.openxmlformats.org/drawingml/2006/main">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1B777A5-783A-D063-67E6-8CB761EE535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2/10/2026</a:t>
            </a:fld>
            <a:endParaRPr/>
          </a:p>
        </p:txBody>
      </p:sp>
      <p:sp>
        <p:nvSpPr>
          <p:cNvPr id="5" name="Footer Placeholder 4">
            <a:extLst xmlns:a="http://schemas.openxmlformats.org/drawingml/2006/main">
              <a:ext uri="{FF2B5EF4-FFF2-40B4-BE49-F238E27FC236}">
                <a16:creationId xmlns:a16="http://schemas.microsoft.com/office/drawing/2014/main" id="{02378A05-536D-01B1-B02E-017A1923F40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04BE06D-95DC-C9AA-9F94-50F934BDD5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B372BEB-1201-DD36-5A62-6C8322CBC41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30EC01D-6BFB-5359-E1CB-F8393053EA11}"/>
              </a:ext>
            </a:extLst>
          </p:cNvPr>
          <p:cNvSpPr>
            <a:spLocks xmlns:a="http://schemas.openxmlformats.org/drawingml/2006/main" noGrp="1"/>
          </p:cNvSpPr>
          <p:nvPr>
            <p:ph idx="1"/>
          </p:nvPr>
        </p:nvSpPr>
        <p:spPr>
          <a:xfrm xmlns:a="http://schemas.openxmlformats.org/drawingml/2006/main">
            <a:off x="628650" y="1825625"/>
            <a:ext cx="38862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A61294D6-52BE-8815-B5BE-B9B642695724}"/>
              </a:ext>
            </a:extLst>
          </p:cNvPr>
          <p:cNvSpPr>
            <a:spLocks xmlns:a="http://schemas.openxmlformats.org/drawingml/2006/main" noGrp="1"/>
          </p:cNvSpPr>
          <p:nvPr>
            <p:ph idx="2"/>
          </p:nvPr>
        </p:nvSpPr>
        <p:spPr>
          <a:xfrm xmlns:a="http://schemas.openxmlformats.org/drawingml/2006/main">
            <a:off x="4629150" y="1825625"/>
            <a:ext cx="38862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FEABC93A-F94E-2DCF-1576-F9D87AD0202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2/10/2026</a:t>
            </a:fld>
            <a:endParaRPr/>
          </a:p>
        </p:txBody>
      </p:sp>
      <p:sp>
        <p:nvSpPr>
          <p:cNvPr id="6" name="Footer Placeholder 5">
            <a:extLst xmlns:a="http://schemas.openxmlformats.org/drawingml/2006/main">
              <a:ext uri="{FF2B5EF4-FFF2-40B4-BE49-F238E27FC236}">
                <a16:creationId xmlns:a16="http://schemas.microsoft.com/office/drawing/2014/main" id="{BE8D2396-B2FC-F8D4-BB47-05AFB0AB2D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E562123-4901-0C6F-544E-F6AA6832F5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47CA608-63E2-19B2-AE4D-57CF441C1B9A}"/>
              </a:ext>
            </a:extLst>
          </p:cNvPr>
          <p:cNvSpPr>
            <a:spLocks xmlns:a="http://schemas.openxmlformats.org/drawingml/2006/main" noGrp="1"/>
          </p:cNvSpPr>
          <p:nvPr>
            <p:ph type="title" idx="0"/>
          </p:nvPr>
        </p:nvSpPr>
        <p:spPr>
          <a:xfrm xmlns:a="http://schemas.openxmlformats.org/drawingml/2006/main">
            <a:off x="629841" y="365126"/>
            <a:ext cx="78867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3FF64A4-C3C4-ACA3-1D1F-D208F767869F}"/>
              </a:ext>
            </a:extLst>
          </p:cNvPr>
          <p:cNvSpPr>
            <a:spLocks xmlns:a="http://schemas.openxmlformats.org/drawingml/2006/main" noGrp="1"/>
          </p:cNvSpPr>
          <p:nvPr>
            <p:ph type="body" idx="1"/>
          </p:nvPr>
        </p:nvSpPr>
        <p:spPr>
          <a:xfrm xmlns:a="http://schemas.openxmlformats.org/drawingml/2006/main">
            <a:off x="629842" y="1681163"/>
            <a:ext cx="3868340" cy="823912"/>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37ACB0F-31D6-4E31-9EF4-FAEE2ECF2D1F}"/>
              </a:ext>
            </a:extLst>
          </p:cNvPr>
          <p:cNvSpPr>
            <a:spLocks xmlns:a="http://schemas.openxmlformats.org/drawingml/2006/main" noGrp="1"/>
          </p:cNvSpPr>
          <p:nvPr>
            <p:ph idx="2"/>
          </p:nvPr>
        </p:nvSpPr>
        <p:spPr>
          <a:xfrm xmlns:a="http://schemas.openxmlformats.org/drawingml/2006/main">
            <a:off x="629842" y="2505075"/>
            <a:ext cx="3868340"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5B8E2D7D-E306-0374-7D3C-62E8D219AEE6}"/>
              </a:ext>
            </a:extLst>
          </p:cNvPr>
          <p:cNvSpPr>
            <a:spLocks xmlns:a="http://schemas.openxmlformats.org/drawingml/2006/main" noGrp="1"/>
          </p:cNvSpPr>
          <p:nvPr>
            <p:ph type="body" idx="3"/>
          </p:nvPr>
        </p:nvSpPr>
        <p:spPr>
          <a:xfrm xmlns:a="http://schemas.openxmlformats.org/drawingml/2006/main">
            <a:off x="4629150" y="1681163"/>
            <a:ext cx="3887391" cy="823912"/>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A2BEC196-EF39-B64C-5B82-DC01BD711307}"/>
              </a:ext>
            </a:extLst>
          </p:cNvPr>
          <p:cNvSpPr>
            <a:spLocks xmlns:a="http://schemas.openxmlformats.org/drawingml/2006/main" noGrp="1"/>
          </p:cNvSpPr>
          <p:nvPr>
            <p:ph idx="4"/>
          </p:nvPr>
        </p:nvSpPr>
        <p:spPr>
          <a:xfrm xmlns:a="http://schemas.openxmlformats.org/drawingml/2006/main">
            <a:off x="4629150" y="2505075"/>
            <a:ext cx="3887391"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D00B66E0-B7D7-BF74-CC5D-317C5567ED6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2/10/2026</a:t>
            </a:fld>
            <a:endParaRPr/>
          </a:p>
        </p:txBody>
      </p:sp>
      <p:sp>
        <p:nvSpPr>
          <p:cNvPr id="8" name="Footer Placeholder 7">
            <a:extLst xmlns:a="http://schemas.openxmlformats.org/drawingml/2006/main">
              <a:ext uri="{FF2B5EF4-FFF2-40B4-BE49-F238E27FC236}">
                <a16:creationId xmlns:a16="http://schemas.microsoft.com/office/drawing/2014/main" id="{E8C2566B-2AE2-3440-B5E5-557FA335D5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65C1E798-0C77-EC9C-37B4-4B7560BDB47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B068898-CA2D-FC1D-F85A-F4B614981F8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7BC0DC15-F701-899A-1878-CE763E8256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2/10/2026</a:t>
            </a:fld>
            <a:endParaRPr/>
          </a:p>
        </p:txBody>
      </p:sp>
      <p:sp>
        <p:nvSpPr>
          <p:cNvPr id="4" name="Footer Placeholder 3">
            <a:extLst xmlns:a="http://schemas.openxmlformats.org/drawingml/2006/main">
              <a:ext uri="{FF2B5EF4-FFF2-40B4-BE49-F238E27FC236}">
                <a16:creationId xmlns:a16="http://schemas.microsoft.com/office/drawing/2014/main" id="{7092D74A-4601-E794-8FA7-BB760570276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5CB1FF0C-0D43-1690-F1D9-BD21A784635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34575516-D291-7DF6-999B-D956266833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2/10/2026</a:t>
            </a:fld>
            <a:endParaRPr/>
          </a:p>
        </p:txBody>
      </p:sp>
      <p:sp>
        <p:nvSpPr>
          <p:cNvPr id="3" name="Footer Placeholder 2">
            <a:extLst xmlns:a="http://schemas.openxmlformats.org/drawingml/2006/main">
              <a:ext uri="{FF2B5EF4-FFF2-40B4-BE49-F238E27FC236}">
                <a16:creationId xmlns:a16="http://schemas.microsoft.com/office/drawing/2014/main" id="{A66BCA8A-5542-72D5-4D01-7901049E96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B66685FB-F8C4-60A1-F7B2-63C03C82483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4904FAF-C8EA-6C50-C03C-6BE244FB3330}"/>
              </a:ext>
            </a:extLst>
          </p:cNvPr>
          <p:cNvSpPr>
            <a:spLocks xmlns:a="http://schemas.openxmlformats.org/drawingml/2006/main" noGrp="1"/>
          </p:cNvSpPr>
          <p:nvPr>
            <p:ph type="title" idx="0"/>
          </p:nvPr>
        </p:nvSpPr>
        <p:spPr>
          <a:xfrm xmlns:a="http://schemas.openxmlformats.org/drawingml/2006/main">
            <a:off x="629841" y="457200"/>
            <a:ext cx="2949178" cy="1600200"/>
          </a:xfrm>
        </p:spPr>
        <p:txBody>
          <a:bodyPr xmlns:a="http://schemas.openxmlformats.org/drawingml/2006/main" anchor="b"/>
          <a:lstStyle xmlns:a="http://schemas.openxmlformats.org/drawingml/2006/main">
            <a:lvl1pPr>
              <a:buNone/>
              <a:defRPr sz="24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3237747-0EAE-BF6C-0F71-1239CCED5C58}"/>
              </a:ext>
            </a:extLst>
          </p:cNvPr>
          <p:cNvSpPr>
            <a:spLocks xmlns:a="http://schemas.openxmlformats.org/drawingml/2006/main" noGrp="1"/>
          </p:cNvSpPr>
          <p:nvPr>
            <p:ph idx="1"/>
          </p:nvPr>
        </p:nvSpPr>
        <p:spPr>
          <a:xfrm xmlns:a="http://schemas.openxmlformats.org/drawingml/2006/main">
            <a:off x="3887391" y="987426"/>
            <a:ext cx="4629150" cy="4873625"/>
          </a:xfrm>
        </p:spPr>
        <p:txBody>
          <a:bodyPr xmlns:a="http://schemas.openxmlformats.org/drawingml/2006/main"/>
          <a:lstStyle xmlns:a="http://schemas.openxmlformats.org/drawingml/2006/main">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2EA81633-599E-0C57-85A4-85AF2FB3ED80}"/>
              </a:ext>
            </a:extLst>
          </p:cNvPr>
          <p:cNvSpPr>
            <a:spLocks xmlns:a="http://schemas.openxmlformats.org/drawingml/2006/main" noGrp="1"/>
          </p:cNvSpPr>
          <p:nvPr>
            <p:ph type="body" idx="2"/>
          </p:nvPr>
        </p:nvSpPr>
        <p:spPr>
          <a:xfrm xmlns:a="http://schemas.openxmlformats.org/drawingml/2006/main">
            <a:off x="629841" y="2057400"/>
            <a:ext cx="2949178" cy="3811588"/>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9CC1136-1C3C-B33A-D05E-2A6D49A0B74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2/10/2026</a:t>
            </a:fld>
            <a:endParaRPr/>
          </a:p>
        </p:txBody>
      </p:sp>
      <p:sp>
        <p:nvSpPr>
          <p:cNvPr id="6" name="Footer Placeholder 5">
            <a:extLst xmlns:a="http://schemas.openxmlformats.org/drawingml/2006/main">
              <a:ext uri="{FF2B5EF4-FFF2-40B4-BE49-F238E27FC236}">
                <a16:creationId xmlns:a16="http://schemas.microsoft.com/office/drawing/2014/main" id="{6ECF106D-088F-C9E1-A0D5-22F8B83BAE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77A12DD-DCE1-05C2-B9F7-010563020ED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6BEF12A-BEE5-D30E-A3A1-942D5B5C0ED8}"/>
              </a:ext>
            </a:extLst>
          </p:cNvPr>
          <p:cNvSpPr>
            <a:spLocks xmlns:a="http://schemas.openxmlformats.org/drawingml/2006/main" noGrp="1"/>
          </p:cNvSpPr>
          <p:nvPr>
            <p:ph type="title" idx="0"/>
          </p:nvPr>
        </p:nvSpPr>
        <p:spPr>
          <a:xfrm xmlns:a="http://schemas.openxmlformats.org/drawingml/2006/main">
            <a:off x="629841" y="457200"/>
            <a:ext cx="2949178" cy="1600200"/>
          </a:xfrm>
        </p:spPr>
        <p:txBody>
          <a:bodyPr xmlns:a="http://schemas.openxmlformats.org/drawingml/2006/main" anchor="b"/>
          <a:lstStyle xmlns:a="http://schemas.openxmlformats.org/drawingml/2006/main">
            <a:lvl1pPr>
              <a:buNone/>
              <a:defRPr sz="24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012D5563-6459-67DE-4D69-30053A9D0AC1}"/>
              </a:ext>
            </a:extLst>
          </p:cNvPr>
          <p:cNvSpPr>
            <a:spLocks xmlns:a="http://schemas.openxmlformats.org/drawingml/2006/main" noGrp="1"/>
          </p:cNvSpPr>
          <p:nvPr>
            <p:ph type="pic" idx="1"/>
          </p:nvPr>
        </p:nvSpPr>
        <p:spPr>
          <a:xfrm xmlns:a="http://schemas.openxmlformats.org/drawingml/2006/main">
            <a:off x="3887391" y="987426"/>
            <a:ext cx="4629150" cy="4873625"/>
          </a:xfrm>
        </p:spPr>
        <p:txBody>
          <a:bodyPr xmlns:a="http://schemas.openxmlformats.org/drawingml/2006/main"/>
          <a:lstStyle xmlns:a="http://schemas.openxmlformats.org/drawingml/2006/main">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477B9A17-FD7C-16CA-4EFC-03BD86855F86}"/>
              </a:ext>
            </a:extLst>
          </p:cNvPr>
          <p:cNvSpPr>
            <a:spLocks xmlns:a="http://schemas.openxmlformats.org/drawingml/2006/main" noGrp="1"/>
          </p:cNvSpPr>
          <p:nvPr>
            <p:ph type="body" idx="2"/>
          </p:nvPr>
        </p:nvSpPr>
        <p:spPr>
          <a:xfrm xmlns:a="http://schemas.openxmlformats.org/drawingml/2006/main">
            <a:off x="629841" y="2057400"/>
            <a:ext cx="2949178" cy="3811588"/>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DC6D420-EC2E-8ABC-B2F2-CA9F497223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2/10/2026</a:t>
            </a:fld>
            <a:endParaRPr/>
          </a:p>
        </p:txBody>
      </p:sp>
      <p:sp>
        <p:nvSpPr>
          <p:cNvPr id="6" name="Footer Placeholder 5">
            <a:extLst xmlns:a="http://schemas.openxmlformats.org/drawingml/2006/main">
              <a:ext uri="{FF2B5EF4-FFF2-40B4-BE49-F238E27FC236}">
                <a16:creationId xmlns:a16="http://schemas.microsoft.com/office/drawing/2014/main" id="{8DDA5612-CD5C-0B26-0604-34950D11FD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FC7A36B-AF9A-508A-1438-B7C8B1597F8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02C38F9-C26A-A887-8868-A89E5C7C289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B3923C57-B3EA-971D-87BC-DF8B8D3CA15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D88FFD4-A931-751C-7707-99B41CCD90E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2/10/2026</a:t>
            </a:fld>
            <a:endParaRPr/>
          </a:p>
        </p:txBody>
      </p:sp>
      <p:sp>
        <p:nvSpPr>
          <p:cNvPr id="5" name="Footer Placeholder 4">
            <a:extLst xmlns:a="http://schemas.openxmlformats.org/drawingml/2006/main">
              <a:ext uri="{FF2B5EF4-FFF2-40B4-BE49-F238E27FC236}">
                <a16:creationId xmlns:a16="http://schemas.microsoft.com/office/drawing/2014/main" id="{1456FB5B-4974-F079-60B2-005270B274D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82AA4EC-E107-73DE-0D25-2B1868B40D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FB63CB0-1DDE-C006-45DD-C4E5E494296C}"/>
              </a:ext>
            </a:extLst>
          </p:cNvPr>
          <p:cNvSpPr>
            <a:spLocks xmlns:a="http://schemas.openxmlformats.org/drawingml/2006/main" noGrp="1"/>
          </p:cNvSpPr>
          <p:nvPr>
            <p:ph type="title" idx="0"/>
          </p:nvPr>
        </p:nvSpPr>
        <p:spPr>
          <a:xfrm xmlns:a="http://schemas.openxmlformats.org/drawingml/2006/main">
            <a:off x="6543675" y="365125"/>
            <a:ext cx="1971675"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73815BB5-31FC-01A3-455F-2FCDAC103C17}"/>
              </a:ext>
            </a:extLst>
          </p:cNvPr>
          <p:cNvSpPr>
            <a:spLocks xmlns:a="http://schemas.openxmlformats.org/drawingml/2006/main" noGrp="1"/>
          </p:cNvSpPr>
          <p:nvPr>
            <p:ph type="body" idx="1"/>
          </p:nvPr>
        </p:nvSpPr>
        <p:spPr>
          <a:xfrm xmlns:a="http://schemas.openxmlformats.org/drawingml/2006/main">
            <a:off x="628650" y="365125"/>
            <a:ext cx="5800725"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F94DB4B-80C3-F444-BB89-BAB7C213FDD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2/10/2026</a:t>
            </a:fld>
            <a:endParaRPr/>
          </a:p>
        </p:txBody>
      </p:sp>
      <p:sp>
        <p:nvSpPr>
          <p:cNvPr id="5" name="Footer Placeholder 4">
            <a:extLst xmlns:a="http://schemas.openxmlformats.org/drawingml/2006/main">
              <a:ext uri="{FF2B5EF4-FFF2-40B4-BE49-F238E27FC236}">
                <a16:creationId xmlns:a16="http://schemas.microsoft.com/office/drawing/2014/main" id="{9ABFC3CA-91F1-49B3-33BE-B13C2112EBB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1199E0A-B830-F842-ADDC-5FD15C9935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013825684d4a53" /><Relationship Type="http://schemas.openxmlformats.org/officeDocument/2006/relationships/slideLayout" Target="/ppt/slideLayouts/slideLayout1.xml" Id="R2e00a76c5c674202" /><Relationship Type="http://schemas.openxmlformats.org/officeDocument/2006/relationships/slideLayout" Target="/ppt/slideLayouts/slideLayout2.xml" Id="Rcd3d91781b5648cc" /><Relationship Type="http://schemas.openxmlformats.org/officeDocument/2006/relationships/slideLayout" Target="/ppt/slideLayouts/slideLayout3.xml" Id="R558b5bc300e3445a" /><Relationship Type="http://schemas.openxmlformats.org/officeDocument/2006/relationships/slideLayout" Target="/ppt/slideLayouts/slideLayout4.xml" Id="Rcb63d8f821754f74" /><Relationship Type="http://schemas.openxmlformats.org/officeDocument/2006/relationships/slideLayout" Target="/ppt/slideLayouts/slideLayout5.xml" Id="Reb7ed47472494489" /><Relationship Type="http://schemas.openxmlformats.org/officeDocument/2006/relationships/slideLayout" Target="/ppt/slideLayouts/slideLayout6.xml" Id="R0fd7cd87cb3442b2" /><Relationship Type="http://schemas.openxmlformats.org/officeDocument/2006/relationships/slideLayout" Target="/ppt/slideLayouts/slideLayout7.xml" Id="Rcab966ba292b4c08" /><Relationship Type="http://schemas.openxmlformats.org/officeDocument/2006/relationships/slideLayout" Target="/ppt/slideLayouts/slideLayout8.xml" Id="Rcca013b5227847a2" /><Relationship Type="http://schemas.openxmlformats.org/officeDocument/2006/relationships/slideLayout" Target="/ppt/slideLayouts/slideLayout9.xml" Id="R6358d44216f54f14" /><Relationship Type="http://schemas.openxmlformats.org/officeDocument/2006/relationships/slideLayout" Target="/ppt/slideLayouts/slideLayout10.xml" Id="R14c604078ec04d26" /><Relationship Type="http://schemas.openxmlformats.org/officeDocument/2006/relationships/slideLayout" Target="/ppt/slideLayouts/slideLayout11.xml" Id="R3212c0b825a84cb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4938481-3E3D-E956-CD00-8CB791685CE3}"/>
              </a:ext>
            </a:extLst>
          </p:cNvPr>
          <p:cNvSpPr>
            <a:spLocks xmlns:a="http://schemas.openxmlformats.org/drawingml/2006/main" noGrp="1"/>
          </p:cNvSpPr>
          <p:nvPr>
            <p:ph type="title" idx="0"/>
          </p:nvPr>
        </p:nvSpPr>
        <p:spPr>
          <a:xfrm xmlns:a="http://schemas.openxmlformats.org/drawingml/2006/main">
            <a:off x="628650" y="365126"/>
            <a:ext cx="78867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678BA1C8-6503-E09A-694B-6C359C0BA89A}"/>
              </a:ext>
            </a:extLst>
          </p:cNvPr>
          <p:cNvSpPr>
            <a:spLocks xmlns:a="http://schemas.openxmlformats.org/drawingml/2006/main" noGrp="1"/>
          </p:cNvSpPr>
          <p:nvPr>
            <p:ph type="body" idx="1"/>
          </p:nvPr>
        </p:nvSpPr>
        <p:spPr>
          <a:xfrm xmlns:a="http://schemas.openxmlformats.org/drawingml/2006/main">
            <a:off x="628650" y="1825625"/>
            <a:ext cx="78867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EA84468-691A-BB42-58A0-82A6AA10D1C1}"/>
              </a:ext>
            </a:extLst>
          </p:cNvPr>
          <p:cNvSpPr>
            <a:spLocks xmlns:a="http://schemas.openxmlformats.org/drawingml/2006/main" noGrp="1"/>
          </p:cNvSpPr>
          <p:nvPr>
            <p:ph type="dt" idx="2"/>
          </p:nvPr>
        </p:nvSpPr>
        <p:spPr>
          <a:xfrm xmlns:a="http://schemas.openxmlformats.org/drawingml/2006/main">
            <a:off x="628650" y="6356351"/>
            <a:ext cx="20574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a:solidFill>
                  <a:schemeClr val="tx1">
                    <a:tint val="82000"/>
                  </a:schemeClr>
                </a:solidFill>
              </a:defRPr>
            </a:lvl1pPr>
          </a:lstStyle>
          <a:p xmlns:a="http://schemas.openxmlformats.org/drawingml/2006/main">
            <a:fld id="{5BCAD085-E8A6-8845-BD4E-CB4CCA059FC4}" type="datetimeFigureOut">
              <a:t>2/10/2026</a:t>
            </a:fld>
            <a:endParaRPr/>
          </a:p>
        </p:txBody>
      </p:sp>
      <p:sp>
        <p:nvSpPr>
          <p:cNvPr id="5" name="Footer Placeholder 4">
            <a:extLst xmlns:a="http://schemas.openxmlformats.org/drawingml/2006/main">
              <a:ext uri="{FF2B5EF4-FFF2-40B4-BE49-F238E27FC236}">
                <a16:creationId xmlns:a16="http://schemas.microsoft.com/office/drawing/2014/main" id="{305BE529-10D3-2454-82D4-495C91F77191}"/>
              </a:ext>
            </a:extLst>
          </p:cNvPr>
          <p:cNvSpPr>
            <a:spLocks xmlns:a="http://schemas.openxmlformats.org/drawingml/2006/main" noGrp="1"/>
          </p:cNvSpPr>
          <p:nvPr>
            <p:ph type="ftr" idx="3"/>
          </p:nvPr>
        </p:nvSpPr>
        <p:spPr>
          <a:xfrm xmlns:a="http://schemas.openxmlformats.org/drawingml/2006/main">
            <a:off x="3028950" y="6356351"/>
            <a:ext cx="30861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90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ECC2B87-66F7-C8F0-A8BC-5A8446D4BBA1}"/>
              </a:ext>
            </a:extLst>
          </p:cNvPr>
          <p:cNvSpPr>
            <a:spLocks xmlns:a="http://schemas.openxmlformats.org/drawingml/2006/main" noGrp="1"/>
          </p:cNvSpPr>
          <p:nvPr>
            <p:ph type="sldNum" idx="4"/>
          </p:nvPr>
        </p:nvSpPr>
        <p:spPr>
          <a:xfrm xmlns:a="http://schemas.openxmlformats.org/drawingml/2006/main">
            <a:off x="6457950" y="6356351"/>
            <a:ext cx="20574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tx1">
                    <a:tint val="82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00a76c5c674202"/>
    <p:sldLayoutId xmlns:r="http://schemas.openxmlformats.org/officeDocument/2006/relationships" id="2147483650" r:id="Rcd3d91781b5648cc"/>
    <p:sldLayoutId xmlns:r="http://schemas.openxmlformats.org/officeDocument/2006/relationships" id="2147483651" r:id="R558b5bc300e3445a"/>
    <p:sldLayoutId xmlns:r="http://schemas.openxmlformats.org/officeDocument/2006/relationships" id="2147483652" r:id="Rcb63d8f821754f74"/>
    <p:sldLayoutId xmlns:r="http://schemas.openxmlformats.org/officeDocument/2006/relationships" id="2147483653" r:id="Reb7ed47472494489"/>
    <p:sldLayoutId xmlns:r="http://schemas.openxmlformats.org/officeDocument/2006/relationships" id="2147483654" r:id="R0fd7cd87cb3442b2"/>
    <p:sldLayoutId xmlns:r="http://schemas.openxmlformats.org/officeDocument/2006/relationships" id="2147483655" r:id="Rcab966ba292b4c08"/>
    <p:sldLayoutId xmlns:r="http://schemas.openxmlformats.org/officeDocument/2006/relationships" id="2147483656" r:id="Rcca013b5227847a2"/>
    <p:sldLayoutId xmlns:r="http://schemas.openxmlformats.org/officeDocument/2006/relationships" id="2147483657" r:id="R6358d44216f54f14"/>
    <p:sldLayoutId xmlns:r="http://schemas.openxmlformats.org/officeDocument/2006/relationships" id="2147483658" r:id="R14c604078ec04d26"/>
    <p:sldLayoutId xmlns:r="http://schemas.openxmlformats.org/officeDocument/2006/relationships" id="2147483659" r:id="R3212c0b825a84cb5"/>
  </p:sldLayoutIdLst>
  <p:txStyles>
    <p:titleStyle>
      <a:lvl1pPr xmlns:a="http://schemas.openxmlformats.org/drawingml/2006/main" algn="l" defTabSz="685800">
        <a:lnSpc>
          <a:spcPct val="90000"/>
        </a:lnSpc>
        <a:spcBef>
          <a:spcPct val="0"/>
        </a:spcBef>
        <a:buNone/>
        <a:defRPr sz="3300" kern="1200">
          <a:solidFill>
            <a:schemeClr val="tx1"/>
          </a:solidFill>
          <a:latin typeface="+mj-lt"/>
          <a:ea typeface="+mj-lt"/>
          <a:cs typeface="+mj-lt"/>
        </a:defRPr>
      </a:lvl1pPr>
    </p:titleStyle>
    <p:bodyStyle>
      <a:lvl1pPr xmlns:a="http://schemas.openxmlformats.org/drawingml/2006/main" marL="171450" indent="-171450" algn="l" defTabSz="685800">
        <a:lnSpc>
          <a:spcPct val="90000"/>
        </a:lnSpc>
        <a:spcBef>
          <a:spcPts val="750"/>
        </a:spcBef>
        <a:buFont typeface="Arial"/>
        <a:buChar char="•"/>
        <a:defRPr sz="2100" kern="1200">
          <a:solidFill>
            <a:schemeClr val="tx1"/>
          </a:solidFill>
          <a:latin typeface="+mn-lt"/>
          <a:ea typeface="+mn-lt"/>
          <a:cs typeface="+mn-lt"/>
        </a:defRPr>
      </a:lvl1pPr>
      <a:lvl2pPr xmlns:a="http://schemas.openxmlformats.org/drawingml/2006/main" marL="514350" indent="-171450" algn="l" defTabSz="685800">
        <a:lnSpc>
          <a:spcPct val="90000"/>
        </a:lnSpc>
        <a:spcBef>
          <a:spcPts val="375"/>
        </a:spcBef>
        <a:buFont typeface="Arial"/>
        <a:buChar char="•"/>
        <a:defRPr sz="1800" kern="1200">
          <a:solidFill>
            <a:schemeClr val="tx1"/>
          </a:solidFill>
          <a:latin typeface="+mn-lt"/>
          <a:ea typeface="+mn-lt"/>
          <a:cs typeface="+mn-lt"/>
        </a:defRPr>
      </a:lvl2pPr>
      <a:lvl3pPr xmlns:a="http://schemas.openxmlformats.org/drawingml/2006/main" marL="857250" indent="-171450" algn="l" defTabSz="685800">
        <a:lnSpc>
          <a:spcPct val="90000"/>
        </a:lnSpc>
        <a:spcBef>
          <a:spcPts val="375"/>
        </a:spcBef>
        <a:buFont typeface="Arial"/>
        <a:buChar char="•"/>
        <a:defRPr sz="1500" kern="1200">
          <a:solidFill>
            <a:schemeClr val="tx1"/>
          </a:solidFill>
          <a:latin typeface="+mn-lt"/>
          <a:ea typeface="+mn-lt"/>
          <a:cs typeface="+mn-lt"/>
        </a:defRPr>
      </a:lvl3pPr>
      <a:lvl4pPr xmlns:a="http://schemas.openxmlformats.org/drawingml/2006/main"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xmlns:a="http://schemas.openxmlformats.org/drawingml/2006/main"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xmlns:a="http://schemas.openxmlformats.org/drawingml/2006/main"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xmlns:a="http://schemas.openxmlformats.org/drawingml/2006/main"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xmlns:a="http://schemas.openxmlformats.org/drawingml/2006/main"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xmlns:a="http://schemas.openxmlformats.org/drawingml/2006/main"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apstone Meeting">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386cb90e6041a1" /><Relationship Type="http://schemas.openxmlformats.org/officeDocument/2006/relationships/image" Target="/ppt/media/image4.png" Id="Re619d02d6b2d4419" /><Relationship Type="http://schemas.openxmlformats.org/officeDocument/2006/relationships/notesSlide" Target="/ppt/notesSlides/notesSlide1.xml" Id="R18d09c98148e40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7587ea39ac24aba" /><Relationship Type="http://schemas.openxmlformats.org/officeDocument/2006/relationships/notesSlide" Target="/ppt/notesSlides/notesSlide2.xml" Id="R4c6ca3feeb5f45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ec0ab6af0514e42" /><Relationship Type="http://schemas.openxmlformats.org/officeDocument/2006/relationships/notesSlide" Target="/ppt/notesSlides/notesSlide3.xml" Id="R21fd81ef497e4b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09915704cac4b7c" /><Relationship Type="http://schemas.openxmlformats.org/officeDocument/2006/relationships/notesSlide" Target="/ppt/notesSlides/notesSlide4.xml" Id="Rc7dda5c900b44f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ec195c44aff4d69" /><Relationship Type="http://schemas.openxmlformats.org/officeDocument/2006/relationships/image" Target="/ppt/media/image5.png" Id="R2399f206a19e4b0f" /><Relationship Type="http://schemas.openxmlformats.org/officeDocument/2006/relationships/notesSlide" Target="/ppt/notesSlides/notesSlide5.xml" Id="R05e2f3575a6f4c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df861e1dbc74b17" /><Relationship Type="http://schemas.openxmlformats.org/officeDocument/2006/relationships/notesSlide" Target="/ppt/notesSlides/notesSlide6.xml" Id="Rd6089adfe0f343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a35aa68956454342" /><Relationship Type="http://schemas.openxmlformats.org/officeDocument/2006/relationships/image" Target="/ppt/media/image6.png" Id="R6b2671f362c14cdf" /><Relationship Type="http://schemas.openxmlformats.org/officeDocument/2006/relationships/notesSlide" Target="/ppt/notesSlides/notesSlide7.xml" Id="R618e46c08da549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1374dcc29234e03" /><Relationship Type="http://schemas.openxmlformats.org/officeDocument/2006/relationships/notesSlide" Target="/ppt/notesSlides/notesSlide8.xml" Id="Ra99d037a5ee64f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9b1d4440f65428b" /><Relationship Type="http://schemas.openxmlformats.org/officeDocument/2006/relationships/notesSlide" Target="/ppt/notesSlides/notesSlide9.xml" Id="R4a29e11342d34a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4877e7c931440e2" /><Relationship Type="http://schemas.openxmlformats.org/officeDocument/2006/relationships/notesSlide" Target="/ppt/notesSlides/notesSlide10.xml" Id="Rb9fa047afda54c6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Picture 4"/>
          <p:cNvPicPr>
            <a:picLocks xmlns:a="http://schemas.openxmlformats.org/drawingml/2006/main" noChangeAspect="1"/>
          </p:cNvPicPr>
          <p:nvPr/>
        </p:nvPicPr>
        <p:blipFill>
          <a:blip xmlns:r="http://schemas.openxmlformats.org/officeDocument/2006/relationships" xmlns:a="http://schemas.openxmlformats.org/drawingml/2006/main" r:embed="Re619d02d6b2d4419"/>
          <a:stretch xmlns:a="http://schemas.openxmlformats.org/drawingml/2006/main">
            <a:fillRect l="0" t="0" r="0" b="0"/>
          </a:stretch>
        </p:blipFill>
        <p:spPr>
          <a:xfrm xmlns:a="http://schemas.openxmlformats.org/drawingml/2006/main">
            <a:off x="594375" y="1743795"/>
            <a:ext cx="3290488" cy="1254499"/>
          </a:xfrm>
          <a:prstGeom xmlns:a="http://schemas.openxmlformats.org/drawingml/2006/main" prst="rect">
            <a:avLst/>
          </a:prstGeom>
        </p:spPr>
      </p:pic>
      <p:sp>
        <p:nvSpPr>
          <p:cNvPr id="2" name="Rectangle 1">
            <a:extLst xmlns:a="http://schemas.openxmlformats.org/drawingml/2006/main">
              <a:ext uri="{FF2B5EF4-FFF2-40B4-BE49-F238E27FC236}">
                <a16:creationId xmlns:a16="http://schemas.microsoft.com/office/drawing/2014/main" id="{07AD43B1-8B94-26CD-2746-B4F4D815FE52}"/>
              </a:ext>
            </a:extLst>
          </p:cNvPr>
          <p:cNvSpPr>
            <a:spLocks xmlns:a="http://schemas.openxmlformats.org/drawingml/2006/main" noGrp="1"/>
          </p:cNvSpPr>
          <p:nvPr/>
        </p:nvSpPr>
        <p:spPr>
          <a:xfrm xmlns:a="http://schemas.openxmlformats.org/drawingml/2006/main">
            <a:off x="4415831" y="1743795"/>
            <a:ext cx="45639" cy="1388569"/>
          </a:xfrm>
          <a:prstGeom xmlns:a="http://schemas.openxmlformats.org/drawingml/2006/main" prst="rect">
            <a:avLst/>
          </a:prstGeom>
          <a:solidFill xmlns:a="http://schemas.openxmlformats.org/drawingml/2006/main">
            <a:srgbClr val="9700FF"/>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350"/>
          </a:p>
        </p:txBody>
      </p:sp>
      <p:sp>
        <p:nvSpPr>
          <p:cNvPr id="3" name="Title 1">
            <a:extLst xmlns:a="http://schemas.openxmlformats.org/drawingml/2006/main">
              <a:ext uri="{FF2B5EF4-FFF2-40B4-BE49-F238E27FC236}">
                <a16:creationId xmlns:a16="http://schemas.microsoft.com/office/drawing/2014/main" id="{022B774B-E0DA-8EFA-E658-16AE37904B08}"/>
              </a:ext>
            </a:extLst>
          </p:cNvPr>
          <p:cNvSpPr>
            <a:spLocks xmlns:a="http://schemas.openxmlformats.org/drawingml/2006/main" noGrp="1"/>
          </p:cNvSpPr>
          <p:nvPr/>
        </p:nvSpPr>
        <p:spPr>
          <a:xfrm xmlns:a="http://schemas.openxmlformats.org/drawingml/2006/main">
            <a:off x="2617097" y="3556600"/>
            <a:ext cx="3597468" cy="463143"/>
          </a:xfrm>
          <a:prstGeom xmlns:a="http://schemas.openxmlformats.org/drawingml/2006/main" prst="rect">
            <a:avLst/>
          </a:prstGeom>
        </p:spPr>
        <p:txBody>
          <a:bodyPr xmlns:a="http://schemas.openxmlformats.org/drawingml/2006/main"/>
          <a:lstStyle xmlns:a="http://schemas.openxmlformats.org/drawingml/2006/main">
            <a:lvl1pPr algn="l" defTabSz="914400">
              <a:lnSpc>
                <a:spcPct val="90000"/>
              </a:lnSpc>
              <a:spcBef>
                <a:spcPct val="0"/>
              </a:spcBef>
              <a:buNone/>
              <a:defRPr sz="4400" b="1" i="0" kern="1200">
                <a:solidFill>
                  <a:schemeClr val="tx1"/>
                </a:solidFill>
                <a:latin typeface="Arial Narrow"/>
                <a:ea typeface="Arial Narrow"/>
                <a:cs typeface="Arial Narrow"/>
              </a:defRPr>
            </a:lvl1pPr>
          </a:lstStyle>
          <a:p xmlns:a="http://schemas.openxmlformats.org/drawingml/2006/main">
            <a:r>
              <a:rPr sz="2800">
                <a:solidFill>
                  <a:srgbClr val="9700FF"/>
                </a:solidFill>
              </a:rPr>
              <a:t>KubeView</a:t>
            </a:r>
          </a:p>
        </p:txBody>
      </p:sp>
      <p:sp>
        <p:nvSpPr>
          <p:cNvPr id="7" name="Content Placeholder 2">
            <a:extLst xmlns:a="http://schemas.openxmlformats.org/drawingml/2006/main">
              <a:ext uri="{FF2B5EF4-FFF2-40B4-BE49-F238E27FC236}">
                <a16:creationId xmlns:a16="http://schemas.microsoft.com/office/drawing/2014/main" id="{67150D07-4CCE-759D-C6B1-03B0AE969E9D}"/>
              </a:ext>
            </a:extLst>
          </p:cNvPr>
          <p:cNvSpPr>
            <a:spLocks xmlns:a="http://schemas.openxmlformats.org/drawingml/2006/main" noGrp="1"/>
          </p:cNvSpPr>
          <p:nvPr/>
        </p:nvSpPr>
        <p:spPr>
          <a:xfrm xmlns:a="http://schemas.openxmlformats.org/drawingml/2006/main">
            <a:off x="4629150" y="1562100"/>
            <a:ext cx="3905250" cy="1466850"/>
          </a:xfrm>
          <a:prstGeom xmlns:a="http://schemas.openxmlformats.org/drawingml/2006/main" prst="rect">
            <a:avLst/>
          </a:prstGeom>
        </p:spPr>
        <p:txBody>
          <a:bodyPr xmlns:a="http://schemas.openxmlformats.org/drawingml/2006/main" lIns="57150" tIns="38100" rIns="57150" bIns="3810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6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ctr">
              <a:spcAft>
                <a:spcPts val="4"/>
              </a:spcAft>
              <a:buNone/>
              <a:defRPr>
                <a:solidFill>
                  <a:srgbClr val="000000"/>
                </a:solidFill>
                <a:latin typeface="Aptos"/>
                <a:ea typeface="Aptos"/>
                <a:cs typeface="Aptos"/>
              </a:defRPr>
            </a:pPr>
            <a:r>
              <a:rPr sz="1200" b="1">
                <a:solidFill>
                  <a:srgbClr val="000000"/>
                </a:solidFill>
                <a:latin typeface="Aptos"/>
                <a:ea typeface="Aptos"/>
                <a:cs typeface="Aptos"/>
              </a:rPr>
              <a:t>Presented by</a:t>
            </a:r>
          </a:p>
          <a:p xmlns:a="http://schemas.openxmlformats.org/drawingml/2006/main">
            <a:pPr marL="0" indent="0" algn="ctr">
              <a:spcAft>
                <a:spcPts val="2"/>
              </a:spcAft>
              <a:buNone/>
              <a:defRPr>
                <a:solidFill>
                  <a:srgbClr val="000000"/>
                </a:solidFill>
                <a:latin typeface="Aptos"/>
                <a:ea typeface="Aptos"/>
                <a:cs typeface="Aptos"/>
              </a:defRPr>
            </a:pPr>
            <a:r>
              <a:rPr sz="1350" b="1">
                <a:solidFill>
                  <a:srgbClr val="000000"/>
                </a:solidFill>
                <a:latin typeface="Aptos"/>
                <a:ea typeface="Aptos"/>
                <a:cs typeface="Aptos"/>
              </a:rPr>
              <a:t>Ankur Kalita | 2023EBCS782</a:t>
            </a:r>
          </a:p>
          <a:p xmlns:a="http://schemas.openxmlformats.org/drawingml/2006/main">
            <a:pPr marL="0" indent="0" algn="ctr">
              <a:spcAft>
                <a:spcPts val="2"/>
              </a:spcAft>
              <a:buNone/>
              <a:defRPr>
                <a:solidFill>
                  <a:srgbClr val="000000"/>
                </a:solidFill>
                <a:latin typeface="Aptos"/>
                <a:ea typeface="Aptos"/>
                <a:cs typeface="Aptos"/>
              </a:defRPr>
            </a:pPr>
            <a:r>
              <a:rPr sz="1350" b="1">
                <a:solidFill>
                  <a:srgbClr val="000000"/>
                </a:solidFill>
                <a:latin typeface="Aptos"/>
                <a:ea typeface="Aptos"/>
                <a:cs typeface="Aptos"/>
              </a:rPr>
              <a:t>Pradyut Fogla | 2023EBCS788</a:t>
            </a:r>
          </a:p>
          <a:p xmlns:a="http://schemas.openxmlformats.org/drawingml/2006/main">
            <a:pPr marL="0" indent="0" algn="ctr">
              <a:buNone/>
              <a:defRPr>
                <a:solidFill>
                  <a:srgbClr val="000000"/>
                </a:solidFill>
                <a:latin typeface="Aptos"/>
                <a:ea typeface="Aptos"/>
                <a:cs typeface="Aptos"/>
              </a:defRPr>
            </a:pPr>
            <a:r>
              <a:rPr sz="1350" b="1">
                <a:solidFill>
                  <a:srgbClr val="000000"/>
                </a:solidFill>
                <a:latin typeface="Aptos"/>
                <a:ea typeface="Aptos"/>
                <a:cs typeface="Aptos"/>
              </a:rPr>
              <a:t>Varun Deep Saini | 2023EBCS663</a:t>
            </a:r>
          </a:p>
        </p:txBody>
      </p:sp>
      <p:sp>
        <p:nvSpPr>
          <p:cNvPr id="6" name="Content Placeholder 2">
            <a:extLst xmlns:a="http://schemas.openxmlformats.org/drawingml/2006/main">
              <a:ext uri="{FF2B5EF4-FFF2-40B4-BE49-F238E27FC236}">
                <a16:creationId xmlns:a16="http://schemas.microsoft.com/office/drawing/2014/main" id="{34C2E371-EB80-F24B-2B7E-C0C2DAFD6A88}"/>
              </a:ext>
            </a:extLst>
          </p:cNvPr>
          <p:cNvSpPr>
            <a:spLocks xmlns:a="http://schemas.openxmlformats.org/drawingml/2006/main" noGrp="1"/>
          </p:cNvSpPr>
          <p:nvPr/>
        </p:nvSpPr>
        <p:spPr>
          <a:xfrm xmlns:a="http://schemas.openxmlformats.org/drawingml/2006/main">
            <a:off x="2655681" y="4821080"/>
            <a:ext cx="3520300" cy="761976"/>
          </a:xfrm>
          <a:prstGeom xmlns:a="http://schemas.openxmlformats.org/drawingml/2006/main" prst="rect">
            <a:avLst/>
          </a:prstGeom>
        </p:spPr>
        <p:txBody>
          <a:bodyPr xmlns:a="http://schemas.openxmlformats.org/drawingml/2006/main"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6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ctr">
              <a:spcAft>
                <a:spcPts val="4"/>
              </a:spcAft>
              <a:buNone/>
              <a:defRPr>
                <a:solidFill>
                  <a:srgbClr val="000000"/>
                </a:solidFill>
                <a:latin typeface="Aptos"/>
                <a:ea typeface="Aptos"/>
                <a:cs typeface="Aptos"/>
              </a:defRPr>
            </a:pPr>
            <a:r>
              <a:rPr sz="1200" b="1">
                <a:solidFill>
                  <a:srgbClr val="000000"/>
                </a:solidFill>
                <a:latin typeface="Aptos"/>
                <a:ea typeface="Aptos"/>
                <a:cs typeface="Aptos"/>
              </a:rPr>
              <a:t>Under the guidance of</a:t>
            </a:r>
          </a:p>
          <a:p xmlns:a="http://schemas.openxmlformats.org/drawingml/2006/main">
            <a:pPr marL="0" indent="0" algn="ctr">
              <a:buNone/>
              <a:defRPr>
                <a:solidFill>
                  <a:srgbClr val="000000"/>
                </a:solidFill>
                <a:latin typeface="Aptos"/>
                <a:ea typeface="Aptos"/>
                <a:cs typeface="Aptos"/>
              </a:defRPr>
            </a:pPr>
            <a:r>
              <a:rPr sz="1800" b="1">
                <a:solidFill>
                  <a:srgbClr val="000000"/>
                </a:solidFill>
                <a:latin typeface="Aptos"/>
                <a:ea typeface="Aptos"/>
                <a:cs typeface="Aptos"/>
              </a:rPr>
              <a:t>Charan</a:t>
            </a:r>
          </a:p>
        </p:txBody>
      </p:sp>
      <p:sp>
        <p:nvSpPr>
          <p:cNvPr id="8" name="Content Placeholder 2">
            <a:extLst xmlns:a="http://schemas.openxmlformats.org/drawingml/2006/main">
              <a:ext uri="{FF2B5EF4-FFF2-40B4-BE49-F238E27FC236}">
                <a16:creationId xmlns:a16="http://schemas.microsoft.com/office/drawing/2014/main" id="{3AB134D2-B9AA-E395-01BF-48B58E2DB43F}"/>
              </a:ext>
            </a:extLst>
          </p:cNvPr>
          <p:cNvSpPr>
            <a:spLocks xmlns:a="http://schemas.openxmlformats.org/drawingml/2006/main" noGrp="1"/>
          </p:cNvSpPr>
          <p:nvPr/>
        </p:nvSpPr>
        <p:spPr>
          <a:xfrm xmlns:a="http://schemas.openxmlformats.org/drawingml/2006/main">
            <a:off x="2543175" y="3923234"/>
            <a:ext cx="3520300" cy="353894"/>
          </a:xfrm>
          <a:prstGeom xmlns:a="http://schemas.openxmlformats.org/drawingml/2006/main" prst="rect">
            <a:avLst/>
          </a:prstGeom>
        </p:spPr>
        <p:txBody>
          <a:bodyPr xmlns:a="http://schemas.openxmlformats.org/drawingml/2006/main"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6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ctr" defTabSz="914400">
              <a:lnSpc>
                <a:spcPct val="100000"/>
              </a:lnSpc>
              <a:spcBef>
                <a:spcPts val="0"/>
              </a:spcBef>
              <a:spcAft>
                <a:spcPts val="0"/>
              </a:spcAft>
              <a:buClrTx/>
              <a:buSzTx/>
              <a:buFontTx/>
              <a:buNone/>
              <a:defRPr sz="1500" b="1">
                <a:solidFill>
                  <a:srgbClr val="000000"/>
                </a:solidFill>
                <a:latin typeface="Aptos SemiBold"/>
                <a:ea typeface="Aptos SemiBold"/>
                <a:cs typeface="Aptos SemiBold"/>
              </a:defRPr>
            </a:pPr>
            <a:r>
              <a:rPr sz="1500" b="1">
                <a:solidFill>
                  <a:srgbClr val="000000"/>
                </a:solidFill>
                <a:latin typeface="Aptos SemiBold"/>
                <a:ea typeface="Aptos SemiBold"/>
                <a:cs typeface="Aptos SemiBold"/>
              </a:rPr>
              <a:t>BSc Computer Science | 2025-2026</a:t>
            </a:r>
            <a:endParaRPr sz="1800" b="1" i="0" u="none" kern="1200" cap="none" spc="0" baseline="0">
              <a:ln>
                <a:noFill/>
              </a:ln>
              <a:solidFill>
                <a:prstClr val="black"/>
              </a:solidFill>
              <a:latin typeface="Aptos SemiBold"/>
              <a:ea typeface="Aptos SemiBold"/>
              <a:cs typeface="Aptos SemiBold"/>
            </a:endParaRPr>
          </a:p>
        </p:txBody>
      </p:sp>
    </p:spTree>
    <p:extLst>
      <p:ext uri="{BB962C8B-B14F-4D97-AF65-F5344CB8AC3E}">
        <p14:creationId xmlns:p14="http://schemas.microsoft.com/office/powerpoint/2010/main" val="28351499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BF8A0E3-FF3A-40C9-AF83-F3E61418D1B2}"/>
              </a:ext>
            </a:extLst>
          </p:cNvPr>
          <p:cNvSpPr>
            <a:spLocks xmlns:a="http://schemas.openxmlformats.org/drawingml/2006/main" noGrp="1"/>
          </p:cNvSpPr>
          <p:nvPr>
            <p:ph type="title" idx="0"/>
          </p:nvPr>
        </p:nvSpPr>
        <p:spPr>
          <a:xfrm xmlns:a="http://schemas.openxmlformats.org/drawingml/2006/main">
            <a:off x="331470" y="349853"/>
            <a:ext cx="6995160" cy="930688"/>
          </a:xfrm>
        </p:spPr>
        <p:txBody>
          <a:bodyPr xmlns:a="http://schemas.openxmlformats.org/drawingml/2006/main"/>
          <a:lstStyle xmlns:a="http://schemas.openxmlformats.org/drawingml/2006/main"/>
          <a:p xmlns:a="http://schemas.openxmlformats.org/drawingml/2006/main">
            <a:r>
              <a:t>Operators lose incident context</a:t>
            </a:r>
          </a:p>
        </p:txBody>
      </p:sp>
      <p:sp>
        <p:nvSpPr>
          <p:cNvPr id="3" name="Content Placeholder 2">
            <a:extLst xmlns:a="http://schemas.openxmlformats.org/drawingml/2006/main">
              <a:ext uri="{FF2B5EF4-FFF2-40B4-BE49-F238E27FC236}">
                <a16:creationId xmlns:a16="http://schemas.microsoft.com/office/drawing/2014/main" id="{04A3B19D-E695-4B2E-89D0-06F4A6EC2FAA}"/>
              </a:ext>
            </a:extLst>
          </p:cNvPr>
          <p:cNvSpPr>
            <a:spLocks xmlns:a="http://schemas.openxmlformats.org/drawingml/2006/main" noGrp="1"/>
          </p:cNvSpPr>
          <p:nvPr>
            <p:ph idx="1"/>
          </p:nvPr>
        </p:nvSpPr>
        <p:spPr>
          <a:xfrm xmlns:a="http://schemas.openxmlformats.org/drawingml/2006/main">
            <a:off x="400050" y="1825657"/>
            <a:ext cx="8492490" cy="4351306"/>
          </a:xfrm>
        </p:spPr>
        <p:txBody>
          <a:bodyPr xmlns:a="http://schemas.openxmlformats.org/drawingml/2006/main" lIns="95250" tIns="47625" rIns="95250" bIns="47625" anchor="t">
            <a:normAutofit fontScale="100000"/>
          </a:bodyPr>
          <a:lstStyle xmlns:a="http://schemas.openxmlformats.org/drawingml/2006/main"/>
          <a:p xmlns:a="http://schemas.openxmlformats.org/drawingml/2006/main">
            <a:pPr marL="28" indent="-15">
              <a:spcAft>
                <a:spcPts val="11"/>
              </a:spcAft>
              <a:buChar char="•"/>
              <a:defRPr sz="1800">
                <a:solidFill>
                  <a:srgbClr val="000000"/>
                </a:solidFill>
                <a:latin typeface="Aptos"/>
                <a:ea typeface="Aptos"/>
                <a:cs typeface="Aptos"/>
              </a:defRPr>
            </a:pPr>
            <a:r>
              <a:rPr sz="1800" b="1">
                <a:solidFill>
                  <a:srgbClr val="000000"/>
                </a:solidFill>
                <a:latin typeface="Aptos"/>
                <a:ea typeface="Aptos"/>
                <a:cs typeface="Aptos"/>
              </a:rPr>
              <a:t> Fragmented diagnosis: </a:t>
            </a:r>
            <a:r>
              <a:rPr sz="1800">
                <a:solidFill>
                  <a:srgbClr val="000000"/>
                </a:solidFill>
                <a:latin typeface="Aptos"/>
                <a:ea typeface="Aptos"/>
                <a:cs typeface="Aptos"/>
              </a:rPr>
              <a:t>health, events, logs and configuration require several commands and manual correlation.</a:t>
            </a:r>
          </a:p>
          <a:p xmlns:a="http://schemas.openxmlformats.org/drawingml/2006/main">
            <a:pPr marL="28" indent="-15">
              <a:spcAft>
                <a:spcPts val="11"/>
              </a:spcAft>
              <a:buChar char="•"/>
              <a:defRPr sz="1800">
                <a:solidFill>
                  <a:srgbClr val="000000"/>
                </a:solidFill>
                <a:latin typeface="Aptos"/>
                <a:ea typeface="Aptos"/>
                <a:cs typeface="Aptos"/>
              </a:defRPr>
            </a:pPr>
            <a:r>
              <a:rPr sz="1800" b="1">
                <a:solidFill>
                  <a:srgbClr val="000000"/>
                </a:solidFill>
                <a:latin typeface="Aptos"/>
                <a:ea typeface="Aptos"/>
                <a:cs typeface="Aptos"/>
              </a:rPr>
              <a:t> Present-state bias: </a:t>
            </a:r>
            <a:r>
              <a:rPr sz="1800">
                <a:solidFill>
                  <a:srgbClr val="000000"/>
                </a:solidFill>
                <a:latin typeface="Aptos"/>
                <a:ea typeface="Aptos"/>
                <a:cs typeface="Aptos"/>
              </a:rPr>
              <a:t>once Kubernetes replaces an object or an event expires, the earlier state is difficult to reconstruct.</a:t>
            </a:r>
          </a:p>
          <a:p xmlns:a="http://schemas.openxmlformats.org/drawingml/2006/main">
            <a:pPr marL="28" indent="-15">
              <a:spcAft>
                <a:spcPts val="11"/>
              </a:spcAft>
              <a:buChar char="•"/>
              <a:defRPr sz="1800">
                <a:solidFill>
                  <a:srgbClr val="000000"/>
                </a:solidFill>
                <a:latin typeface="Aptos"/>
                <a:ea typeface="Aptos"/>
                <a:cs typeface="Aptos"/>
              </a:defRPr>
            </a:pPr>
            <a:r>
              <a:rPr sz="1800" b="1">
                <a:solidFill>
                  <a:srgbClr val="000000"/>
                </a:solidFill>
                <a:latin typeface="Aptos"/>
                <a:ea typeface="Aptos"/>
                <a:cs typeface="Aptos"/>
              </a:rPr>
              <a:t> Heavy alternatives: </a:t>
            </a:r>
            <a:r>
              <a:rPr sz="1800">
                <a:solidFill>
                  <a:srgbClr val="000000"/>
                </a:solidFill>
                <a:latin typeface="Aptos"/>
                <a:ea typeface="Aptos"/>
                <a:cs typeface="Aptos"/>
              </a:rPr>
              <a:t>full observability stacks add services, storage and configuration when a small team needs focused inspection.</a:t>
            </a:r>
          </a:p>
          <a:p xmlns:a="http://schemas.openxmlformats.org/drawingml/2006/main">
            <a:pPr marL="28" indent="-15">
              <a:spcAft>
                <a:spcPts val="11"/>
              </a:spcAft>
              <a:buChar char="•"/>
              <a:defRPr sz="1800">
                <a:solidFill>
                  <a:srgbClr val="000000"/>
                </a:solidFill>
                <a:latin typeface="Aptos"/>
                <a:ea typeface="Aptos"/>
                <a:cs typeface="Aptos"/>
              </a:defRPr>
            </a:pPr>
            <a:r>
              <a:rPr sz="1800" b="1">
                <a:solidFill>
                  <a:srgbClr val="000000"/>
                </a:solidFill>
                <a:latin typeface="Aptos"/>
                <a:ea typeface="Aptos"/>
                <a:cs typeface="Aptos"/>
              </a:rPr>
              <a:t> Core question: </a:t>
            </a:r>
            <a:r>
              <a:rPr sz="1800">
                <a:solidFill>
                  <a:srgbClr val="000000"/>
                </a:solidFill>
                <a:latin typeface="Aptos"/>
                <a:ea typeface="Aptos"/>
                <a:cs typeface="Aptos"/>
              </a:rPr>
              <a:t>what changed, and when?</a:t>
            </a:r>
          </a:p>
        </p:txBody>
      </p:sp>
    </p:spTree>
    <p:extLst>
      <p:ext uri="{BB962C8B-B14F-4D97-AF65-F5344CB8AC3E}">
        <p14:creationId xmlns:p14="http://schemas.microsoft.com/office/powerpoint/2010/main" val="165579677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C5AA70-59EE-4E53-A2C7-185E49C849B3}"/>
              </a:ext>
            </a:extLst>
          </p:cNvPr>
          <p:cNvSpPr>
            <a:spLocks xmlns:a="http://schemas.openxmlformats.org/drawingml/2006/main" noGrp="1"/>
          </p:cNvSpPr>
          <p:nvPr>
            <p:ph type="title" idx="0"/>
          </p:nvPr>
        </p:nvSpPr>
        <p:spPr>
          <a:xfrm xmlns:a="http://schemas.openxmlformats.org/drawingml/2006/main">
            <a:off x="331470" y="349853"/>
            <a:ext cx="6995160" cy="930688"/>
          </a:xfrm>
        </p:spPr>
        <p:txBody>
          <a:bodyPr xmlns:a="http://schemas.openxmlformats.org/drawingml/2006/main"/>
          <a:lstStyle xmlns:a="http://schemas.openxmlformats.org/drawingml/2006/main"/>
          <a:p xmlns:a="http://schemas.openxmlformats.org/drawingml/2006/main">
            <a:r>
              <a:t>Objectives and scope</a:t>
            </a:r>
          </a:p>
        </p:txBody>
      </p:sp>
      <p:sp>
        <p:nvSpPr>
          <p:cNvPr id="3" name="Content Placeholder 2">
            <a:extLst xmlns:a="http://schemas.openxmlformats.org/drawingml/2006/main">
              <a:ext uri="{FF2B5EF4-FFF2-40B4-BE49-F238E27FC236}">
                <a16:creationId xmlns:a16="http://schemas.microsoft.com/office/drawing/2014/main" id="{8CAA2D5D-E372-4007-8415-1CAE603F327C}"/>
              </a:ext>
            </a:extLst>
          </p:cNvPr>
          <p:cNvSpPr>
            <a:spLocks xmlns:a="http://schemas.openxmlformats.org/drawingml/2006/main" noGrp="1"/>
          </p:cNvSpPr>
          <p:nvPr>
            <p:ph idx="1"/>
          </p:nvPr>
        </p:nvSpPr>
        <p:spPr>
          <a:xfrm xmlns:a="http://schemas.openxmlformats.org/drawingml/2006/main">
            <a:off x="400050" y="1825657"/>
            <a:ext cx="8492490" cy="4351306"/>
          </a:xfrm>
        </p:spPr>
        <p:txBody>
          <a:bodyPr xmlns:a="http://schemas.openxmlformats.org/drawingml/2006/main" lIns="95250" tIns="47625" rIns="95250" bIns="47625" anchor="t">
            <a:normAutofit fontScale="100000"/>
          </a:bodyPr>
          <a:lstStyle xmlns:a="http://schemas.openxmlformats.org/drawingml/2006/main"/>
          <a:p xmlns:a="http://schemas.openxmlformats.org/drawingml/2006/main">
            <a:pPr marL="28" indent="-15">
              <a:spcAft>
                <a:spcPts val="11"/>
              </a:spcAft>
              <a:buChar char="•"/>
              <a:defRPr sz="1650">
                <a:solidFill>
                  <a:srgbClr val="000000"/>
                </a:solidFill>
                <a:latin typeface="Aptos"/>
                <a:ea typeface="Aptos"/>
                <a:cs typeface="Aptos"/>
              </a:defRPr>
            </a:pPr>
            <a:r>
              <a:rPr sz="1650" b="1">
                <a:solidFill>
                  <a:srgbClr val="000000"/>
                </a:solidFill>
                <a:latin typeface="Aptos"/>
                <a:ea typeface="Aptos"/>
                <a:cs typeface="Aptos"/>
              </a:rPr>
              <a:t> Inspect: </a:t>
            </a:r>
            <a:r>
              <a:rPr sz="1650">
                <a:solidFill>
                  <a:srgbClr val="000000"/>
                </a:solidFill>
                <a:latin typeface="Aptos"/>
                <a:ea typeface="Aptos"/>
                <a:cs typeface="Aptos"/>
              </a:rPr>
              <a:t>11 Kubernetes resource kinds with search, namespace filters and pod detail.</a:t>
            </a:r>
          </a:p>
          <a:p xmlns:a="http://schemas.openxmlformats.org/drawingml/2006/main">
            <a:pPr marL="28" indent="-15">
              <a:spcAft>
                <a:spcPts val="11"/>
              </a:spcAft>
              <a:buChar char="•"/>
              <a:defRPr sz="1650">
                <a:solidFill>
                  <a:srgbClr val="000000"/>
                </a:solidFill>
                <a:latin typeface="Aptos"/>
                <a:ea typeface="Aptos"/>
                <a:cs typeface="Aptos"/>
              </a:defRPr>
            </a:pPr>
            <a:r>
              <a:rPr sz="1650" b="1">
                <a:solidFill>
                  <a:srgbClr val="000000"/>
                </a:solidFill>
                <a:latin typeface="Aptos"/>
                <a:ea typeface="Aptos"/>
                <a:cs typeface="Aptos"/>
              </a:rPr>
              <a:t> Diagnose: </a:t>
            </a:r>
            <a:r>
              <a:rPr sz="1650">
                <a:solidFill>
                  <a:srgbClr val="000000"/>
                </a:solidFill>
                <a:latin typeface="Aptos"/>
                <a:ea typeface="Aptos"/>
                <a:cs typeface="Aptos"/>
              </a:rPr>
              <a:t>stream logs from the selected container and surface events alongside resource state.</a:t>
            </a:r>
          </a:p>
          <a:p xmlns:a="http://schemas.openxmlformats.org/drawingml/2006/main">
            <a:pPr marL="28" indent="-15">
              <a:spcAft>
                <a:spcPts val="11"/>
              </a:spcAft>
              <a:buChar char="•"/>
              <a:defRPr sz="1650">
                <a:solidFill>
                  <a:srgbClr val="000000"/>
                </a:solidFill>
                <a:latin typeface="Aptos"/>
                <a:ea typeface="Aptos"/>
                <a:cs typeface="Aptos"/>
              </a:defRPr>
            </a:pPr>
            <a:r>
              <a:rPr sz="1650" b="1">
                <a:solidFill>
                  <a:srgbClr val="000000"/>
                </a:solidFill>
                <a:latin typeface="Aptos"/>
                <a:ea typeface="Aptos"/>
                <a:cs typeface="Aptos"/>
              </a:rPr>
              <a:t> Stay current: </a:t>
            </a:r>
            <a:r>
              <a:rPr sz="1650">
                <a:solidFill>
                  <a:srgbClr val="000000"/>
                </a:solidFill>
                <a:latin typeface="Aptos"/>
                <a:ea typeface="Aptos"/>
                <a:cs typeface="Aptos"/>
              </a:rPr>
              <a:t>combine REST snapshots with Server-Sent Events and reconnection resynchronization.</a:t>
            </a:r>
          </a:p>
          <a:p xmlns:a="http://schemas.openxmlformats.org/drawingml/2006/main">
            <a:pPr marL="28" indent="-15">
              <a:spcAft>
                <a:spcPts val="11"/>
              </a:spcAft>
              <a:buChar char="•"/>
              <a:defRPr sz="1650">
                <a:solidFill>
                  <a:srgbClr val="000000"/>
                </a:solidFill>
                <a:latin typeface="Aptos"/>
                <a:ea typeface="Aptos"/>
                <a:cs typeface="Aptos"/>
              </a:defRPr>
            </a:pPr>
            <a:r>
              <a:rPr sz="1650" b="1">
                <a:solidFill>
                  <a:srgbClr val="000000"/>
                </a:solidFill>
                <a:latin typeface="Aptos"/>
                <a:ea typeface="Aptos"/>
                <a:cs typeface="Aptos"/>
              </a:rPr>
              <a:t> Switch safely: </a:t>
            </a:r>
            <a:r>
              <a:rPr sz="1650">
                <a:solidFill>
                  <a:srgbClr val="000000"/>
                </a:solidFill>
                <a:latin typeface="Aptos"/>
                <a:ea typeface="Aptos"/>
                <a:cs typeface="Aptos"/>
              </a:rPr>
              <a:t>isolate kubeconfig contexts while keeping the product read-only.</a:t>
            </a:r>
          </a:p>
          <a:p xmlns:a="http://schemas.openxmlformats.org/drawingml/2006/main">
            <a:pPr marL="28" indent="-15">
              <a:spcAft>
                <a:spcPts val="11"/>
              </a:spcAft>
              <a:buChar char="•"/>
              <a:defRPr sz="1650">
                <a:solidFill>
                  <a:srgbClr val="000000"/>
                </a:solidFill>
                <a:latin typeface="Aptos"/>
                <a:ea typeface="Aptos"/>
                <a:cs typeface="Aptos"/>
              </a:defRPr>
            </a:pPr>
            <a:r>
              <a:rPr sz="1650" b="1">
                <a:solidFill>
                  <a:srgbClr val="000000"/>
                </a:solidFill>
                <a:latin typeface="Aptos"/>
                <a:ea typeface="Aptos"/>
                <a:cs typeface="Aptos"/>
              </a:rPr>
              <a:t> Reconstruct: </a:t>
            </a:r>
            <a:r>
              <a:rPr sz="1650">
                <a:solidFill>
                  <a:srgbClr val="000000"/>
                </a:solidFill>
                <a:latin typeface="Aptos"/>
                <a:ea typeface="Aptos"/>
                <a:cs typeface="Aptos"/>
              </a:rPr>
              <a:t>retain 72 hours of transformed state by default and compare two moments field by field.</a:t>
            </a:r>
          </a:p>
          <a:p xmlns:a="http://schemas.openxmlformats.org/drawingml/2006/main">
            <a:pPr marL="28" indent="-15">
              <a:spcAft>
                <a:spcPts val="11"/>
              </a:spcAft>
              <a:buChar char="•"/>
              <a:defRPr sz="1650">
                <a:solidFill>
                  <a:srgbClr val="000000"/>
                </a:solidFill>
                <a:latin typeface="Aptos"/>
                <a:ea typeface="Aptos"/>
                <a:cs typeface="Aptos"/>
              </a:defRPr>
            </a:pPr>
            <a:r>
              <a:rPr sz="1650" b="1">
                <a:solidFill>
                  <a:srgbClr val="000000"/>
                </a:solidFill>
                <a:latin typeface="Aptos"/>
                <a:ea typeface="Aptos"/>
                <a:cs typeface="Aptos"/>
              </a:rPr>
              <a:t> Boundary: </a:t>
            </a:r>
            <a:r>
              <a:rPr sz="1650">
                <a:solidFill>
                  <a:srgbClr val="000000"/>
                </a:solidFill>
                <a:latin typeface="Aptos"/>
                <a:ea typeface="Aptos"/>
                <a:cs typeface="Aptos"/>
              </a:rPr>
              <a:t>no cluster mutation, built-in user authentication, metrics, traces or CRDs.</a:t>
            </a:r>
          </a:p>
        </p:txBody>
      </p:sp>
    </p:spTree>
    <p:extLst>
      <p:ext uri="{BB962C8B-B14F-4D97-AF65-F5344CB8AC3E}">
        <p14:creationId xmlns:p14="http://schemas.microsoft.com/office/powerpoint/2010/main" val="41110722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113813-B674-4649-B070-A7DF19170340}"/>
              </a:ext>
            </a:extLst>
          </p:cNvPr>
          <p:cNvSpPr>
            <a:spLocks xmlns:a="http://schemas.openxmlformats.org/drawingml/2006/main" noGrp="1"/>
          </p:cNvSpPr>
          <p:nvPr>
            <p:ph type="title" idx="0"/>
          </p:nvPr>
        </p:nvSpPr>
        <p:spPr>
          <a:xfrm xmlns:a="http://schemas.openxmlformats.org/drawingml/2006/main">
            <a:off x="331470" y="349853"/>
            <a:ext cx="6995160" cy="930688"/>
          </a:xfrm>
        </p:spPr>
        <p:txBody>
          <a:bodyPr xmlns:a="http://schemas.openxmlformats.org/drawingml/2006/main"/>
          <a:lstStyle xmlns:a="http://schemas.openxmlformats.org/drawingml/2006/main"/>
          <a:p xmlns:a="http://schemas.openxmlformats.org/drawingml/2006/main">
            <a:r>
              <a:t>The gap KubeView fills</a:t>
            </a:r>
          </a:p>
        </p:txBody>
      </p:sp>
      <p:sp>
        <p:nvSpPr>
          <p:cNvPr id="3" name="Content Placeholder 2">
            <a:extLst xmlns:a="http://schemas.openxmlformats.org/drawingml/2006/main">
              <a:ext uri="{FF2B5EF4-FFF2-40B4-BE49-F238E27FC236}">
                <a16:creationId xmlns:a16="http://schemas.microsoft.com/office/drawing/2014/main" id="{7A9D5043-0FEC-4B6C-974E-B0FDEBD83AC6}"/>
              </a:ext>
            </a:extLst>
          </p:cNvPr>
          <p:cNvSpPr>
            <a:spLocks xmlns:a="http://schemas.openxmlformats.org/drawingml/2006/main" noGrp="1"/>
          </p:cNvSpPr>
          <p:nvPr>
            <p:ph idx="1"/>
          </p:nvPr>
        </p:nvSpPr>
        <p:spPr>
          <a:xfrm xmlns:a="http://schemas.openxmlformats.org/drawingml/2006/main">
            <a:off x="400050" y="1825657"/>
            <a:ext cx="8492490" cy="4351306"/>
          </a:xfrm>
        </p:spPr>
        <p:txBody>
          <a:bodyPr xmlns:a="http://schemas.openxmlformats.org/drawingml/2006/main" lIns="95250" tIns="47625" rIns="95250" bIns="47625" anchor="t">
            <a:normAutofit fontScale="100000"/>
          </a:bodyPr>
          <a:lstStyle xmlns:a="http://schemas.openxmlformats.org/drawingml/2006/main"/>
          <a:p xmlns:a="http://schemas.openxmlformats.org/drawingml/2006/main">
            <a:pPr marL="28" indent="-15">
              <a:spcAft>
                <a:spcPts val="11"/>
              </a:spcAft>
              <a:buChar char="•"/>
              <a:defRPr sz="1650">
                <a:solidFill>
                  <a:srgbClr val="000000"/>
                </a:solidFill>
                <a:latin typeface="Aptos"/>
                <a:ea typeface="Aptos"/>
                <a:cs typeface="Aptos"/>
              </a:defRPr>
            </a:pPr>
            <a:r>
              <a:rPr sz="1650" b="1">
                <a:solidFill>
                  <a:srgbClr val="000000"/>
                </a:solidFill>
                <a:latin typeface="Aptos"/>
                <a:ea typeface="Aptos"/>
                <a:cs typeface="Aptos"/>
              </a:rPr>
              <a:t> kubectl: </a:t>
            </a:r>
            <a:r>
              <a:rPr sz="1650">
                <a:solidFill>
                  <a:srgbClr val="000000"/>
                </a:solidFill>
                <a:latin typeface="Aptos"/>
                <a:ea typeface="Aptos"/>
                <a:cs typeface="Aptos"/>
              </a:rPr>
              <a:t>powerful and scriptable, but diagnosis is command-driven and spread across outputs.</a:t>
            </a:r>
          </a:p>
          <a:p xmlns:a="http://schemas.openxmlformats.org/drawingml/2006/main">
            <a:pPr marL="28" indent="-15">
              <a:spcAft>
                <a:spcPts val="11"/>
              </a:spcAft>
              <a:buChar char="•"/>
              <a:defRPr sz="1650">
                <a:solidFill>
                  <a:srgbClr val="000000"/>
                </a:solidFill>
                <a:latin typeface="Aptos"/>
                <a:ea typeface="Aptos"/>
                <a:cs typeface="Aptos"/>
              </a:defRPr>
            </a:pPr>
            <a:r>
              <a:rPr sz="1650" b="1">
                <a:solidFill>
                  <a:srgbClr val="000000"/>
                </a:solidFill>
                <a:latin typeface="Aptos"/>
                <a:ea typeface="Aptos"/>
                <a:cs typeface="Aptos"/>
              </a:rPr>
              <a:t> Kubernetes Dashboard and Lens: </a:t>
            </a:r>
            <a:r>
              <a:rPr sz="1650">
                <a:solidFill>
                  <a:srgbClr val="000000"/>
                </a:solidFill>
                <a:latin typeface="Aptos"/>
                <a:ea typeface="Aptos"/>
                <a:cs typeface="Aptos"/>
              </a:rPr>
              <a:t>strong current-state interfaces, with broader administration goals.</a:t>
            </a:r>
          </a:p>
          <a:p xmlns:a="http://schemas.openxmlformats.org/drawingml/2006/main">
            <a:pPr marL="28" indent="-15">
              <a:spcAft>
                <a:spcPts val="11"/>
              </a:spcAft>
              <a:buChar char="•"/>
              <a:defRPr sz="1650">
                <a:solidFill>
                  <a:srgbClr val="000000"/>
                </a:solidFill>
                <a:latin typeface="Aptos"/>
                <a:ea typeface="Aptos"/>
                <a:cs typeface="Aptos"/>
              </a:defRPr>
            </a:pPr>
            <a:r>
              <a:rPr sz="1650" b="1">
                <a:solidFill>
                  <a:srgbClr val="000000"/>
                </a:solidFill>
                <a:latin typeface="Aptos"/>
                <a:ea typeface="Aptos"/>
                <a:cs typeface="Aptos"/>
              </a:rPr>
              <a:t> Grafana and Loki: </a:t>
            </a:r>
            <a:r>
              <a:rPr sz="1650">
                <a:solidFill>
                  <a:srgbClr val="000000"/>
                </a:solidFill>
                <a:latin typeface="Aptos"/>
                <a:ea typeface="Aptos"/>
                <a:cs typeface="Aptos"/>
              </a:rPr>
              <a:t>deep telemetry and log retention, but require additional collection and storage infrastructure.</a:t>
            </a:r>
          </a:p>
          <a:p xmlns:a="http://schemas.openxmlformats.org/drawingml/2006/main">
            <a:pPr marL="0" indent="0">
              <a:spcBef>
                <a:spcPts val="3"/>
              </a:spcBef>
              <a:spcAft>
                <a:spcPts val="7"/>
              </a:spcAft>
              <a:buNone/>
              <a:defRPr sz="1650">
                <a:solidFill>
                  <a:srgbClr val="000000"/>
                </a:solidFill>
                <a:latin typeface="Aptos"/>
                <a:ea typeface="Aptos"/>
                <a:cs typeface="Aptos"/>
              </a:defRPr>
            </a:pPr>
            <a:r>
              <a:rPr sz="1650" b="1">
                <a:solidFill>
                  <a:srgbClr val="000000"/>
                </a:solidFill>
                <a:latin typeface="Aptos"/>
                <a:ea typeface="Aptos"/>
                <a:cs typeface="Aptos"/>
              </a:rPr>
              <a:t>Unique value proposition</a:t>
            </a:r>
          </a:p>
          <a:p xmlns:a="http://schemas.openxmlformats.org/drawingml/2006/main">
            <a:pPr marL="0" indent="0">
              <a:buNone/>
              <a:defRPr sz="1650">
                <a:solidFill>
                  <a:srgbClr val="000000"/>
                </a:solidFill>
                <a:latin typeface="Aptos"/>
                <a:ea typeface="Aptos"/>
                <a:cs typeface="Aptos"/>
              </a:defRPr>
            </a:pPr>
            <a:r>
              <a:rPr sz="1650" b="1">
                <a:solidFill>
                  <a:srgbClr val="000000"/>
                </a:solidFill>
                <a:latin typeface="Aptos"/>
                <a:ea typeface="Aptos"/>
                <a:cs typeface="Aptos"/>
              </a:rPr>
              <a:t>KubeView combines live inspection and lightweight historical replay in a local, read-only browser workflow.</a:t>
            </a:r>
          </a:p>
        </p:txBody>
      </p:sp>
    </p:spTree>
    <p:extLst>
      <p:ext uri="{BB962C8B-B14F-4D97-AF65-F5344CB8AC3E}">
        <p14:creationId xmlns:p14="http://schemas.microsoft.com/office/powerpoint/2010/main" val="144817263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B3DBAE6-474D-4A6E-9725-C79509C72951}"/>
              </a:ext>
            </a:extLst>
          </p:cNvPr>
          <p:cNvSpPr>
            <a:spLocks xmlns:a="http://schemas.openxmlformats.org/drawingml/2006/main" noGrp="1"/>
          </p:cNvSpPr>
          <p:nvPr>
            <p:ph type="title" idx="0"/>
          </p:nvPr>
        </p:nvSpPr>
        <p:spPr>
          <a:xfrm xmlns:a="http://schemas.openxmlformats.org/drawingml/2006/main">
            <a:off x="331470" y="349853"/>
            <a:ext cx="6995160" cy="930688"/>
          </a:xfrm>
        </p:spPr>
        <p:txBody>
          <a:bodyPr xmlns:a="http://schemas.openxmlformats.org/drawingml/2006/main"/>
          <a:lstStyle xmlns:a="http://schemas.openxmlformats.org/drawingml/2006/main"/>
          <a:p xmlns:a="http://schemas.openxmlformats.org/drawingml/2006/main">
            <a:r>
              <a:t>Read-only architecture</a:t>
            </a:r>
          </a:p>
        </p:txBody>
      </p:sp>
      <p:sp>
        <p:nvSpPr>
          <p:cNvPr id="3" name="Content Placeholder 2">
            <a:extLst xmlns:a="http://schemas.openxmlformats.org/drawingml/2006/main">
              <a:ext uri="{FF2B5EF4-FFF2-40B4-BE49-F238E27FC236}">
                <a16:creationId xmlns:a16="http://schemas.microsoft.com/office/drawing/2014/main" id="{55A91185-C7D9-4094-A168-3CD70350A464}"/>
              </a:ext>
            </a:extLst>
          </p:cNvPr>
          <p:cNvSpPr>
            <a:spLocks xmlns:a="http://schemas.openxmlformats.org/drawingml/2006/main" noGrp="1"/>
          </p:cNvSpPr>
          <p:nvPr>
            <p:ph idx="1"/>
          </p:nvPr>
        </p:nvSpPr>
        <p:spPr>
          <a:xfrm xmlns:a="http://schemas.openxmlformats.org/drawingml/2006/main">
            <a:off x="552450" y="5715000"/>
            <a:ext cx="8039100" cy="514350"/>
          </a:xfrm>
        </p:spPr>
        <p:txBody>
          <a:bodyPr xmlns:a="http://schemas.openxmlformats.org/drawingml/2006/main" anchor="ctr">
            <a:normAutofit fontScale="100000"/>
          </a:bodyPr>
          <a:lstStyle xmlns:a="http://schemas.openxmlformats.org/drawingml/2006/main"/>
          <a:p xmlns:a="http://schemas.openxmlformats.org/drawingml/2006/main">
            <a:pPr marL="0" indent="0" algn="ctr">
              <a:buNone/>
              <a:defRPr sz="1500" b="1">
                <a:solidFill>
                  <a:srgbClr val="17365D"/>
                </a:solidFill>
                <a:latin typeface="Aptos"/>
                <a:ea typeface="Aptos"/>
                <a:cs typeface="Aptos"/>
              </a:defRPr>
            </a:pPr>
            <a:r>
              <a:rPr sz="1500" b="1">
                <a:solidFill>
                  <a:srgbClr val="17365D"/>
                </a:solidFill>
                <a:latin typeface="Aptos"/>
                <a:ea typeface="Aptos"/>
                <a:cs typeface="Aptos"/>
              </a:rPr>
              <a:t>The Go backend owns Kubernetes credentials, context selection, live watches and the local history store.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399f206a19e4b0f"/>
          <a:stretch xmlns:a="http://schemas.openxmlformats.org/drawingml/2006/main"/>
        </p:blipFill>
        <p:spPr>
          <a:xfrm xmlns:a="http://schemas.openxmlformats.org/drawingml/2006/main">
            <a:off x="863600" y="1466850"/>
            <a:ext cx="7416800" cy="4171950"/>
          </a:xfrm>
          <a:prstGeom xmlns:a="http://schemas.openxmlformats.org/drawingml/2006/main" prst="rect">
            <a:avLst/>
          </a:prstGeom>
        </p:spPr>
      </p:pic>
    </p:spTree>
    <p:extLst>
      <p:ext uri="{BB962C8B-B14F-4D97-AF65-F5344CB8AC3E}">
        <p14:creationId xmlns:p14="http://schemas.microsoft.com/office/powerpoint/2010/main" val="98181655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217A61-C2A9-48D7-8450-52C09A0412C3}"/>
              </a:ext>
            </a:extLst>
          </p:cNvPr>
          <p:cNvSpPr>
            <a:spLocks xmlns:a="http://schemas.openxmlformats.org/drawingml/2006/main" noGrp="1"/>
          </p:cNvSpPr>
          <p:nvPr>
            <p:ph type="title" idx="0"/>
          </p:nvPr>
        </p:nvSpPr>
        <p:spPr>
          <a:xfrm xmlns:a="http://schemas.openxmlformats.org/drawingml/2006/main">
            <a:off x="331470" y="349853"/>
            <a:ext cx="6995160" cy="930688"/>
          </a:xfrm>
        </p:spPr>
        <p:txBody>
          <a:bodyPr xmlns:a="http://schemas.openxmlformats.org/drawingml/2006/main"/>
          <a:lstStyle xmlns:a="http://schemas.openxmlformats.org/drawingml/2006/main"/>
          <a:p xmlns:a="http://schemas.openxmlformats.org/drawingml/2006/main">
            <a:r>
              <a:t>Technology choices</a:t>
            </a:r>
          </a:p>
        </p:txBody>
      </p:sp>
      <p:sp>
        <p:nvSpPr>
          <p:cNvPr id="3" name="Content Placeholder 2">
            <a:extLst xmlns:a="http://schemas.openxmlformats.org/drawingml/2006/main">
              <a:ext uri="{FF2B5EF4-FFF2-40B4-BE49-F238E27FC236}">
                <a16:creationId xmlns:a16="http://schemas.microsoft.com/office/drawing/2014/main" id="{8963B00B-F843-4A64-BAA8-46D91C690545}"/>
              </a:ext>
            </a:extLst>
          </p:cNvPr>
          <p:cNvSpPr>
            <a:spLocks xmlns:a="http://schemas.openxmlformats.org/drawingml/2006/main" noGrp="1"/>
          </p:cNvSpPr>
          <p:nvPr>
            <p:ph idx="1"/>
          </p:nvPr>
        </p:nvSpPr>
        <p:spPr>
          <a:xfrm xmlns:a="http://schemas.openxmlformats.org/drawingml/2006/main">
            <a:off x="400050" y="1825657"/>
            <a:ext cx="8492490" cy="4351306"/>
          </a:xfrm>
        </p:spPr>
        <p:txBody>
          <a:bodyPr xmlns:a="http://schemas.openxmlformats.org/drawingml/2006/main" lIns="95250" tIns="47625" rIns="95250" bIns="47625" anchor="t">
            <a:normAutofit fontScale="100000"/>
          </a:bodyPr>
          <a:lstStyle xmlns:a="http://schemas.openxmlformats.org/drawingml/2006/main"/>
          <a:p xmlns:a="http://schemas.openxmlformats.org/drawingml/2006/main">
            <a:pPr marL="28" indent="-15">
              <a:spcAft>
                <a:spcPts val="11"/>
              </a:spcAft>
              <a:buChar char="•"/>
              <a:defRPr sz="1800">
                <a:solidFill>
                  <a:srgbClr val="000000"/>
                </a:solidFill>
                <a:latin typeface="Aptos"/>
                <a:ea typeface="Aptos"/>
                <a:cs typeface="Aptos"/>
              </a:defRPr>
            </a:pPr>
            <a:r>
              <a:rPr sz="1800" b="1">
                <a:solidFill>
                  <a:srgbClr val="000000"/>
                </a:solidFill>
                <a:latin typeface="Aptos"/>
                <a:ea typeface="Aptos"/>
                <a:cs typeface="Aptos"/>
              </a:rPr>
              <a:t> Backend: </a:t>
            </a:r>
            <a:r>
              <a:rPr sz="1800">
                <a:solidFill>
                  <a:srgbClr val="000000"/>
                </a:solidFill>
                <a:latin typeface="Aptos"/>
                <a:ea typeface="Aptos"/>
                <a:cs typeface="Aptos"/>
              </a:rPr>
              <a:t>Go 1.26, net/http, client-go and Kubernetes API libraries.</a:t>
            </a:r>
          </a:p>
          <a:p xmlns:a="http://schemas.openxmlformats.org/drawingml/2006/main">
            <a:pPr marL="28" indent="-15">
              <a:spcAft>
                <a:spcPts val="11"/>
              </a:spcAft>
              <a:buChar char="•"/>
              <a:defRPr sz="1800">
                <a:solidFill>
                  <a:srgbClr val="000000"/>
                </a:solidFill>
                <a:latin typeface="Aptos"/>
                <a:ea typeface="Aptos"/>
                <a:cs typeface="Aptos"/>
              </a:defRPr>
            </a:pPr>
            <a:r>
              <a:rPr sz="1800" b="1">
                <a:solidFill>
                  <a:srgbClr val="000000"/>
                </a:solidFill>
                <a:latin typeface="Aptos"/>
                <a:ea typeface="Aptos"/>
                <a:cs typeface="Aptos"/>
              </a:rPr>
              <a:t> Frontend: </a:t>
            </a:r>
            <a:r>
              <a:rPr sz="1800">
                <a:solidFill>
                  <a:srgbClr val="000000"/>
                </a:solidFill>
                <a:latin typeface="Aptos"/>
                <a:ea typeface="Aptos"/>
                <a:cs typeface="Aptos"/>
              </a:rPr>
              <a:t>Next.js 16, React 19, TypeScript 5 and Tailwind CSS 4.</a:t>
            </a:r>
          </a:p>
          <a:p xmlns:a="http://schemas.openxmlformats.org/drawingml/2006/main">
            <a:pPr marL="28" indent="-15">
              <a:spcAft>
                <a:spcPts val="11"/>
              </a:spcAft>
              <a:buChar char="•"/>
              <a:defRPr sz="1800">
                <a:solidFill>
                  <a:srgbClr val="000000"/>
                </a:solidFill>
                <a:latin typeface="Aptos"/>
                <a:ea typeface="Aptos"/>
                <a:cs typeface="Aptos"/>
              </a:defRPr>
            </a:pPr>
            <a:r>
              <a:rPr sz="1800" b="1">
                <a:solidFill>
                  <a:srgbClr val="000000"/>
                </a:solidFill>
                <a:latin typeface="Aptos"/>
                <a:ea typeface="Aptos"/>
                <a:cs typeface="Aptos"/>
              </a:rPr>
              <a:t> History: </a:t>
            </a:r>
            <a:r>
              <a:rPr sz="1800">
                <a:solidFill>
                  <a:srgbClr val="000000"/>
                </a:solidFill>
                <a:latin typeface="Aptos"/>
                <a:ea typeface="Aptos"/>
                <a:cs typeface="Aptos"/>
              </a:rPr>
              <a:t>bbolt 1.5 embedded storage with configurable retention.</a:t>
            </a:r>
          </a:p>
          <a:p xmlns:a="http://schemas.openxmlformats.org/drawingml/2006/main">
            <a:pPr marL="28" indent="-15">
              <a:spcAft>
                <a:spcPts val="11"/>
              </a:spcAft>
              <a:buChar char="•"/>
              <a:defRPr sz="1800">
                <a:solidFill>
                  <a:srgbClr val="000000"/>
                </a:solidFill>
                <a:latin typeface="Aptos"/>
                <a:ea typeface="Aptos"/>
                <a:cs typeface="Aptos"/>
              </a:defRPr>
            </a:pPr>
            <a:r>
              <a:rPr sz="1800" b="1">
                <a:solidFill>
                  <a:srgbClr val="000000"/>
                </a:solidFill>
                <a:latin typeface="Aptos"/>
                <a:ea typeface="Aptos"/>
                <a:cs typeface="Aptos"/>
              </a:rPr>
              <a:t> Quality: </a:t>
            </a:r>
            <a:r>
              <a:rPr sz="1800">
                <a:solidFill>
                  <a:srgbClr val="000000"/>
                </a:solidFill>
                <a:latin typeface="Aptos"/>
                <a:ea typeface="Aptos"/>
                <a:cs typeface="Aptos"/>
              </a:rPr>
              <a:t>Go testing, Vitest, Testing Library, Playwright, golangci-lint, CodeQL and govulncheck.</a:t>
            </a:r>
          </a:p>
          <a:p xmlns:a="http://schemas.openxmlformats.org/drawingml/2006/main">
            <a:pPr marL="28" indent="-15">
              <a:spcAft>
                <a:spcPts val="11"/>
              </a:spcAft>
              <a:buChar char="•"/>
              <a:defRPr sz="1800">
                <a:solidFill>
                  <a:srgbClr val="000000"/>
                </a:solidFill>
                <a:latin typeface="Aptos"/>
                <a:ea typeface="Aptos"/>
                <a:cs typeface="Aptos"/>
              </a:defRPr>
            </a:pPr>
            <a:r>
              <a:rPr sz="1800" b="1">
                <a:solidFill>
                  <a:srgbClr val="000000"/>
                </a:solidFill>
                <a:latin typeface="Aptos"/>
                <a:ea typeface="Aptos"/>
                <a:cs typeface="Aptos"/>
              </a:rPr>
              <a:t> Delivery: </a:t>
            </a:r>
            <a:r>
              <a:rPr sz="1800">
                <a:solidFill>
                  <a:srgbClr val="000000"/>
                </a:solidFill>
                <a:latin typeface="Aptos"/>
                <a:ea typeface="Aptos"/>
                <a:cs typeface="Aptos"/>
              </a:rPr>
              <a:t>Docker, Docker Compose, Kubernetes manifests, Kustomize, read-only RBAC and NetworkPolicy.</a:t>
            </a:r>
          </a:p>
        </p:txBody>
      </p:sp>
    </p:spTree>
    <p:extLst>
      <p:ext uri="{BB962C8B-B14F-4D97-AF65-F5344CB8AC3E}">
        <p14:creationId xmlns:p14="http://schemas.microsoft.com/office/powerpoint/2010/main" val="4281033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7454D96-1F37-441A-9CC7-BC6BB29B5EFF}"/>
              </a:ext>
            </a:extLst>
          </p:cNvPr>
          <p:cNvSpPr>
            <a:spLocks xmlns:a="http://schemas.openxmlformats.org/drawingml/2006/main" noGrp="1"/>
          </p:cNvSpPr>
          <p:nvPr>
            <p:ph type="title" idx="0"/>
          </p:nvPr>
        </p:nvSpPr>
        <p:spPr>
          <a:xfrm xmlns:a="http://schemas.openxmlformats.org/drawingml/2006/main">
            <a:off x="331470" y="349853"/>
            <a:ext cx="6995160" cy="930688"/>
          </a:xfrm>
        </p:spPr>
        <p:txBody>
          <a:bodyPr xmlns:a="http://schemas.openxmlformats.org/drawingml/2006/main"/>
          <a:lstStyle xmlns:a="http://schemas.openxmlformats.org/drawingml/2006/main"/>
          <a:p xmlns:a="http://schemas.openxmlformats.org/drawingml/2006/main">
            <a:r>
              <a:t>Implementation and demo</a:t>
            </a:r>
          </a:p>
        </p:txBody>
      </p:sp>
      <p:sp>
        <p:nvSpPr>
          <p:cNvPr id="3" name="Content Placeholder 2">
            <a:extLst xmlns:a="http://schemas.openxmlformats.org/drawingml/2006/main">
              <a:ext uri="{FF2B5EF4-FFF2-40B4-BE49-F238E27FC236}">
                <a16:creationId xmlns:a16="http://schemas.microsoft.com/office/drawing/2014/main" id="{2D9EE05A-3FCA-43A4-8032-68BFE0B2C2F6}"/>
              </a:ext>
            </a:extLst>
          </p:cNvPr>
          <p:cNvSpPr>
            <a:spLocks xmlns:a="http://schemas.openxmlformats.org/drawingml/2006/main" noGrp="1"/>
          </p:cNvSpPr>
          <p:nvPr>
            <p:ph idx="1"/>
          </p:nvPr>
        </p:nvSpPr>
        <p:spPr>
          <a:xfrm xmlns:a="http://schemas.openxmlformats.org/drawingml/2006/main">
            <a:off x="533400" y="5715000"/>
            <a:ext cx="8077200" cy="514350"/>
          </a:xfrm>
        </p:spPr>
        <p:txBody>
          <a:bodyPr xmlns:a="http://schemas.openxmlformats.org/drawingml/2006/main" anchor="ctr">
            <a:normAutofit fontScale="100000"/>
          </a:bodyPr>
          <a:lstStyle xmlns:a="http://schemas.openxmlformats.org/drawingml/2006/main"/>
          <a:p xmlns:a="http://schemas.openxmlformats.org/drawingml/2006/main">
            <a:pPr marL="0" indent="0" algn="ctr">
              <a:buNone/>
              <a:defRPr sz="1500" b="1">
                <a:solidFill>
                  <a:srgbClr val="9700FF"/>
                </a:solidFill>
                <a:latin typeface="Aptos SemiBold"/>
                <a:ea typeface="Aptos SemiBold"/>
                <a:cs typeface="Aptos SemiBold"/>
              </a:defRPr>
            </a:pPr>
            <a:r>
              <a:rPr sz="1500" b="1">
                <a:solidFill>
                  <a:srgbClr val="9700FF"/>
                </a:solidFill>
                <a:latin typeface="Aptos SemiBold"/>
                <a:ea typeface="Aptos SemiBold"/>
                <a:cs typeface="Aptos SemiBold"/>
              </a:rPr>
              <a:t>Recorded demo (4:20): resources -&gt; pod logs -&gt; live scale -&gt; events -&gt; historical comparison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b2671f362c14cdf"/>
          <a:stretch xmlns:a="http://schemas.openxmlformats.org/drawingml/2006/main"/>
        </p:blipFill>
        <p:spPr>
          <a:xfrm xmlns:a="http://schemas.openxmlformats.org/drawingml/2006/main">
            <a:off x="1275451" y="1562100"/>
            <a:ext cx="6593099" cy="4000500"/>
          </a:xfrm>
          <a:prstGeom xmlns:a="http://schemas.openxmlformats.org/drawingml/2006/main" prst="rect">
            <a:avLst/>
          </a:prstGeom>
        </p:spPr>
      </p:pic>
    </p:spTree>
    <p:extLst>
      <p:ext uri="{BB962C8B-B14F-4D97-AF65-F5344CB8AC3E}">
        <p14:creationId xmlns:p14="http://schemas.microsoft.com/office/powerpoint/2010/main" val="60525291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7EA276B-F157-41FD-8433-D384E4C4718E}"/>
              </a:ext>
            </a:extLst>
          </p:cNvPr>
          <p:cNvSpPr>
            <a:spLocks xmlns:a="http://schemas.openxmlformats.org/drawingml/2006/main" noGrp="1"/>
          </p:cNvSpPr>
          <p:nvPr>
            <p:ph type="title" idx="0"/>
          </p:nvPr>
        </p:nvSpPr>
        <p:spPr>
          <a:xfrm xmlns:a="http://schemas.openxmlformats.org/drawingml/2006/main">
            <a:off x="331470" y="349853"/>
            <a:ext cx="6995160" cy="930688"/>
          </a:xfrm>
        </p:spPr>
        <p:txBody>
          <a:bodyPr xmlns:a="http://schemas.openxmlformats.org/drawingml/2006/main"/>
          <a:lstStyle xmlns:a="http://schemas.openxmlformats.org/drawingml/2006/main"/>
          <a:p xmlns:a="http://schemas.openxmlformats.org/drawingml/2006/main">
            <a:r>
              <a:t>Validation results</a:t>
            </a:r>
          </a:p>
        </p:txBody>
      </p:sp>
      <p:sp>
        <p:nvSpPr>
          <p:cNvPr id="3" name="Content Placeholder 2">
            <a:extLst xmlns:a="http://schemas.openxmlformats.org/drawingml/2006/main">
              <a:ext uri="{FF2B5EF4-FFF2-40B4-BE49-F238E27FC236}">
                <a16:creationId xmlns:a16="http://schemas.microsoft.com/office/drawing/2014/main" id="{F5ADD95F-847F-41F0-B2E5-0A5B775B9459}"/>
              </a:ext>
            </a:extLst>
          </p:cNvPr>
          <p:cNvSpPr>
            <a:spLocks xmlns:a="http://schemas.openxmlformats.org/drawingml/2006/main" noGrp="1"/>
          </p:cNvSpPr>
          <p:nvPr>
            <p:ph idx="1"/>
          </p:nvPr>
        </p:nvSpPr>
        <p:spPr>
          <a:xfrm xmlns:a="http://schemas.openxmlformats.org/drawingml/2006/main">
            <a:off x="857250" y="1809750"/>
            <a:ext cx="7429500" cy="4095750"/>
          </a:xfrm>
        </p:spPr>
        <p:txBody>
          <a:bodyPr xmlns:a="http://schemas.openxmlformats.org/drawingml/2006/main" anchor="ctr">
            <a:normAutofit fontScale="100000"/>
          </a:bodyPr>
          <a:lstStyle xmlns:a="http://schemas.openxmlformats.org/drawingml/2006/main"/>
          <a:p xmlns:a="http://schemas.openxmlformats.org/drawingml/2006/main">
            <a:pPr>
              <a:spcAft>
                <a:spcPts val="18"/>
              </a:spcAft>
              <a:defRPr>
                <a:solidFill>
                  <a:srgbClr val="000000"/>
                </a:solidFill>
                <a:latin typeface="Aptos"/>
                <a:ea typeface="Aptos"/>
                <a:cs typeface="Aptos"/>
              </a:defRPr>
            </a:pPr>
            <a:r>
              <a:rPr sz="2850" b="1">
                <a:solidFill>
                  <a:srgbClr val="000000"/>
                </a:solidFill>
                <a:latin typeface="Aptos"/>
                <a:ea typeface="Aptos"/>
                <a:cs typeface="Aptos"/>
              </a:rPr>
              <a:t>227</a:t>
            </a:r>
            <a:r>
              <a:rPr sz="1800" b="1">
                <a:solidFill>
                  <a:srgbClr val="000000"/>
                </a:solidFill>
                <a:latin typeface="Aptos"/>
                <a:ea typeface="Aptos"/>
                <a:cs typeface="Aptos"/>
              </a:rPr>
              <a:t>  Go test functions</a:t>
            </a:r>
          </a:p>
          <a:p xmlns:a="http://schemas.openxmlformats.org/drawingml/2006/main">
            <a:pPr>
              <a:spcAft>
                <a:spcPts val="18"/>
              </a:spcAft>
              <a:defRPr>
                <a:solidFill>
                  <a:srgbClr val="000000"/>
                </a:solidFill>
                <a:latin typeface="Aptos"/>
                <a:ea typeface="Aptos"/>
                <a:cs typeface="Aptos"/>
              </a:defRPr>
            </a:pPr>
            <a:r>
              <a:rPr sz="2850" b="1">
                <a:solidFill>
                  <a:srgbClr val="000000"/>
                </a:solidFill>
                <a:latin typeface="Aptos"/>
                <a:ea typeface="Aptos"/>
                <a:cs typeface="Aptos"/>
              </a:rPr>
              <a:t>60</a:t>
            </a:r>
            <a:r>
              <a:rPr sz="1800" b="1">
                <a:solidFill>
                  <a:srgbClr val="000000"/>
                </a:solidFill>
                <a:latin typeface="Aptos"/>
                <a:ea typeface="Aptos"/>
                <a:cs typeface="Aptos"/>
              </a:rPr>
              <a:t>  frontend unit tests</a:t>
            </a:r>
          </a:p>
          <a:p xmlns:a="http://schemas.openxmlformats.org/drawingml/2006/main">
            <a:pPr>
              <a:spcAft>
                <a:spcPts val="24"/>
              </a:spcAft>
              <a:defRPr>
                <a:solidFill>
                  <a:srgbClr val="000000"/>
                </a:solidFill>
                <a:latin typeface="Aptos"/>
                <a:ea typeface="Aptos"/>
                <a:cs typeface="Aptos"/>
              </a:defRPr>
            </a:pPr>
            <a:r>
              <a:rPr sz="2850" b="1">
                <a:solidFill>
                  <a:srgbClr val="000000"/>
                </a:solidFill>
                <a:latin typeface="Aptos"/>
                <a:ea typeface="Aptos"/>
                <a:cs typeface="Aptos"/>
              </a:rPr>
              <a:t>45</a:t>
            </a:r>
            <a:r>
              <a:rPr sz="1800" b="1">
                <a:solidFill>
                  <a:srgbClr val="000000"/>
                </a:solidFill>
                <a:latin typeface="Aptos"/>
                <a:ea typeface="Aptos"/>
                <a:cs typeface="Aptos"/>
              </a:rPr>
              <a:t>  Playwright tests against a real kind cluster</a:t>
            </a:r>
          </a:p>
          <a:p xmlns:a="http://schemas.openxmlformats.org/drawingml/2006/main">
            <a:pPr>
              <a:spcAft>
                <a:spcPts val="7"/>
              </a:spcAft>
              <a:defRPr>
                <a:solidFill>
                  <a:srgbClr val="000000"/>
                </a:solidFill>
                <a:latin typeface="Aptos"/>
                <a:ea typeface="Aptos"/>
                <a:cs typeface="Aptos"/>
              </a:defRPr>
            </a:pPr>
            <a:r>
              <a:rPr sz="1800" b="1">
                <a:solidFill>
                  <a:srgbClr val="000000"/>
                </a:solidFill>
                <a:latin typeface="Aptos"/>
                <a:ea typeface="Aptos"/>
                <a:cs typeface="Aptos"/>
              </a:rPr>
              <a:t>CI gates</a:t>
            </a:r>
          </a:p>
          <a:p xmlns:a="http://schemas.openxmlformats.org/drawingml/2006/main">
            <a:pPr>
              <a:defRPr>
                <a:solidFill>
                  <a:srgbClr val="000000"/>
                </a:solidFill>
                <a:latin typeface="Aptos"/>
                <a:ea typeface="Aptos"/>
                <a:cs typeface="Aptos"/>
              </a:defRPr>
            </a:pPr>
            <a:r>
              <a:rPr sz="1575">
                <a:solidFill>
                  <a:srgbClr val="000000"/>
                </a:solidFill>
                <a:latin typeface="Aptos"/>
                <a:ea typeface="Aptos"/>
                <a:cs typeface="Aptos"/>
              </a:rPr>
              <a:t>Race detector | lint | type check | production build | CodeQL | govulncheck</a:t>
            </a:r>
          </a:p>
        </p:txBody>
      </p:sp>
    </p:spTree>
    <p:extLst>
      <p:ext uri="{BB962C8B-B14F-4D97-AF65-F5344CB8AC3E}">
        <p14:creationId xmlns:p14="http://schemas.microsoft.com/office/powerpoint/2010/main" val="188548599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E841C6C-1B00-4C48-A775-C18E06EA2B11}"/>
              </a:ext>
            </a:extLst>
          </p:cNvPr>
          <p:cNvSpPr>
            <a:spLocks xmlns:a="http://schemas.openxmlformats.org/drawingml/2006/main" noGrp="1"/>
          </p:cNvSpPr>
          <p:nvPr>
            <p:ph type="title" idx="0"/>
          </p:nvPr>
        </p:nvSpPr>
        <p:spPr>
          <a:xfrm xmlns:a="http://schemas.openxmlformats.org/drawingml/2006/main">
            <a:off x="331470" y="349853"/>
            <a:ext cx="6995160" cy="930688"/>
          </a:xfrm>
        </p:spPr>
        <p:txBody>
          <a:bodyPr xmlns:a="http://schemas.openxmlformats.org/drawingml/2006/main"/>
          <a:lstStyle xmlns:a="http://schemas.openxmlformats.org/drawingml/2006/main"/>
          <a:p xmlns:a="http://schemas.openxmlformats.org/drawingml/2006/main">
            <a:r>
              <a:t>Challenges and limitations</a:t>
            </a:r>
          </a:p>
        </p:txBody>
      </p:sp>
      <p:sp>
        <p:nvSpPr>
          <p:cNvPr id="3" name="Content Placeholder 2">
            <a:extLst xmlns:a="http://schemas.openxmlformats.org/drawingml/2006/main">
              <a:ext uri="{FF2B5EF4-FFF2-40B4-BE49-F238E27FC236}">
                <a16:creationId xmlns:a16="http://schemas.microsoft.com/office/drawing/2014/main" id="{E79CDE71-A128-49A9-9C59-91342A6FE128}"/>
              </a:ext>
            </a:extLst>
          </p:cNvPr>
          <p:cNvSpPr>
            <a:spLocks xmlns:a="http://schemas.openxmlformats.org/drawingml/2006/main" noGrp="1"/>
          </p:cNvSpPr>
          <p:nvPr>
            <p:ph idx="1"/>
          </p:nvPr>
        </p:nvSpPr>
        <p:spPr>
          <a:xfrm xmlns:a="http://schemas.openxmlformats.org/drawingml/2006/main">
            <a:off x="400050" y="1825657"/>
            <a:ext cx="8492490" cy="4351306"/>
          </a:xfrm>
        </p:spPr>
        <p:txBody>
          <a:bodyPr xmlns:a="http://schemas.openxmlformats.org/drawingml/2006/main" lIns="95250" tIns="47625" rIns="95250" bIns="47625" anchor="t">
            <a:normAutofit fontScale="100000"/>
          </a:bodyPr>
          <a:lstStyle xmlns:a="http://schemas.openxmlformats.org/drawingml/2006/main"/>
          <a:p xmlns:a="http://schemas.openxmlformats.org/drawingml/2006/main">
            <a:pPr marL="0" indent="0">
              <a:spcBef>
                <a:spcPts val="3"/>
              </a:spcBef>
              <a:spcAft>
                <a:spcPts val="7"/>
              </a:spcAft>
              <a:buNone/>
              <a:defRPr sz="1500">
                <a:solidFill>
                  <a:srgbClr val="000000"/>
                </a:solidFill>
                <a:latin typeface="Aptos"/>
                <a:ea typeface="Aptos"/>
                <a:cs typeface="Aptos"/>
              </a:defRPr>
            </a:pPr>
            <a:r>
              <a:rPr sz="1500" b="1">
                <a:solidFill>
                  <a:srgbClr val="000000"/>
                </a:solidFill>
                <a:latin typeface="Aptos"/>
                <a:ea typeface="Aptos"/>
                <a:cs typeface="Aptos"/>
              </a:rPr>
              <a:t>Solved during implementation</a:t>
            </a:r>
          </a:p>
          <a:p xmlns:a="http://schemas.openxmlformats.org/drawingml/2006/main">
            <a:pPr marL="28" indent="-15">
              <a:spcAft>
                <a:spcPts val="7"/>
              </a:spcAft>
              <a:buChar char="•"/>
              <a:defRPr sz="1500">
                <a:solidFill>
                  <a:srgbClr val="000000"/>
                </a:solidFill>
                <a:latin typeface="Aptos"/>
                <a:ea typeface="Aptos"/>
                <a:cs typeface="Aptos"/>
              </a:defRPr>
            </a:pPr>
            <a:r>
              <a:rPr sz="1500" b="1">
                <a:solidFill>
                  <a:srgbClr val="000000"/>
                </a:solidFill>
                <a:latin typeface="Aptos"/>
                <a:ea typeface="Aptos"/>
                <a:cs typeface="Aptos"/>
              </a:rPr>
              <a:t> Stream recovery: </a:t>
            </a:r>
            <a:r>
              <a:rPr sz="1500">
                <a:solidFill>
                  <a:srgbClr val="000000"/>
                </a:solidFill>
                <a:latin typeface="Aptos"/>
                <a:ea typeface="Aptos"/>
                <a:cs typeface="Aptos"/>
              </a:rPr>
              <a:t>a fresh REST list repairs state after an SSE or Kubernetes watch reconnect.</a:t>
            </a:r>
          </a:p>
          <a:p xmlns:a="http://schemas.openxmlformats.org/drawingml/2006/main">
            <a:pPr marL="28" indent="-15">
              <a:spcAft>
                <a:spcPts val="7"/>
              </a:spcAft>
              <a:buChar char="•"/>
              <a:defRPr sz="1500">
                <a:solidFill>
                  <a:srgbClr val="000000"/>
                </a:solidFill>
                <a:latin typeface="Aptos"/>
                <a:ea typeface="Aptos"/>
                <a:cs typeface="Aptos"/>
              </a:defRPr>
            </a:pPr>
            <a:r>
              <a:rPr sz="1500" b="1">
                <a:solidFill>
                  <a:srgbClr val="000000"/>
                </a:solidFill>
                <a:latin typeface="Aptos"/>
                <a:ea typeface="Aptos"/>
                <a:cs typeface="Aptos"/>
              </a:rPr>
              <a:t> Pod correctness: </a:t>
            </a:r>
            <a:r>
              <a:rPr sz="1500">
                <a:solidFill>
                  <a:srgbClr val="000000"/>
                </a:solidFill>
                <a:latin typeface="Aptos"/>
                <a:ea typeface="Aptos"/>
                <a:cs typeface="Aptos"/>
              </a:rPr>
              <a:t>container status is matched by name across init, sidecar and ephemeral containers.</a:t>
            </a:r>
          </a:p>
          <a:p xmlns:a="http://schemas.openxmlformats.org/drawingml/2006/main">
            <a:pPr marL="28" indent="-15">
              <a:spcAft>
                <a:spcPts val="13"/>
              </a:spcAft>
              <a:buChar char="•"/>
              <a:defRPr sz="1500">
                <a:solidFill>
                  <a:srgbClr val="000000"/>
                </a:solidFill>
                <a:latin typeface="Aptos"/>
                <a:ea typeface="Aptos"/>
                <a:cs typeface="Aptos"/>
              </a:defRPr>
            </a:pPr>
            <a:r>
              <a:rPr sz="1500" b="1">
                <a:solidFill>
                  <a:srgbClr val="000000"/>
                </a:solidFill>
                <a:latin typeface="Aptos"/>
                <a:ea typeface="Aptos"/>
                <a:cs typeface="Aptos"/>
              </a:rPr>
              <a:t> Historical deletion: </a:t>
            </a:r>
            <a:r>
              <a:rPr sz="1500">
                <a:solidFill>
                  <a:srgbClr val="000000"/>
                </a:solidFill>
                <a:latin typeface="Aptos"/>
                <a:ea typeface="Aptos"/>
                <a:cs typeface="Aptos"/>
              </a:rPr>
              <a:t>tombstones prevent removed objects from reappearing in reconstructed snapshots.</a:t>
            </a:r>
          </a:p>
          <a:p xmlns:a="http://schemas.openxmlformats.org/drawingml/2006/main">
            <a:pPr marL="0" indent="0">
              <a:spcBef>
                <a:spcPts val="3"/>
              </a:spcBef>
              <a:spcAft>
                <a:spcPts val="7"/>
              </a:spcAft>
              <a:buNone/>
              <a:defRPr sz="1500">
                <a:solidFill>
                  <a:srgbClr val="000000"/>
                </a:solidFill>
                <a:latin typeface="Aptos"/>
                <a:ea typeface="Aptos"/>
                <a:cs typeface="Aptos"/>
              </a:defRPr>
            </a:pPr>
            <a:r>
              <a:rPr sz="1500" b="1">
                <a:solidFill>
                  <a:srgbClr val="000000"/>
                </a:solidFill>
                <a:latin typeface="Aptos"/>
                <a:ea typeface="Aptos"/>
                <a:cs typeface="Aptos"/>
              </a:rPr>
              <a:t>Current boundaries</a:t>
            </a:r>
          </a:p>
          <a:p xmlns:a="http://schemas.openxmlformats.org/drawingml/2006/main">
            <a:pPr marL="28" indent="-15">
              <a:spcAft>
                <a:spcPts val="7"/>
              </a:spcAft>
              <a:buChar char="•"/>
              <a:defRPr sz="1500">
                <a:solidFill>
                  <a:srgbClr val="000000"/>
                </a:solidFill>
                <a:latin typeface="Aptos"/>
                <a:ea typeface="Aptos"/>
                <a:cs typeface="Aptos"/>
              </a:defRPr>
            </a:pPr>
            <a:r>
              <a:rPr sz="1500" b="1">
                <a:solidFill>
                  <a:srgbClr val="000000"/>
                </a:solidFill>
                <a:latin typeface="Aptos"/>
                <a:ea typeface="Aptos"/>
                <a:cs typeface="Aptos"/>
              </a:rPr>
              <a:t> Access: </a:t>
            </a:r>
            <a:r>
              <a:rPr sz="1500">
                <a:solidFill>
                  <a:srgbClr val="000000"/>
                </a:solidFill>
                <a:latin typeface="Aptos"/>
                <a:ea typeface="Aptos"/>
                <a:cs typeface="Aptos"/>
              </a:rPr>
              <a:t>shared exposure requires an authentication proxy; read-only data can still be sensitive.</a:t>
            </a:r>
          </a:p>
          <a:p xmlns:a="http://schemas.openxmlformats.org/drawingml/2006/main">
            <a:pPr marL="28" indent="-15">
              <a:spcAft>
                <a:spcPts val="7"/>
              </a:spcAft>
              <a:buChar char="•"/>
              <a:defRPr sz="1500">
                <a:solidFill>
                  <a:srgbClr val="000000"/>
                </a:solidFill>
                <a:latin typeface="Aptos"/>
                <a:ea typeface="Aptos"/>
                <a:cs typeface="Aptos"/>
              </a:defRPr>
            </a:pPr>
            <a:r>
              <a:rPr sz="1500" b="1">
                <a:solidFill>
                  <a:srgbClr val="000000"/>
                </a:solidFill>
                <a:latin typeface="Aptos"/>
                <a:ea typeface="Aptos"/>
                <a:cs typeface="Aptos"/>
              </a:rPr>
              <a:t> Storage: </a:t>
            </a:r>
            <a:r>
              <a:rPr sz="1500">
                <a:solidFill>
                  <a:srgbClr val="000000"/>
                </a:solidFill>
                <a:latin typeface="Aptos"/>
                <a:ea typeface="Aptos"/>
                <a:cs typeface="Aptos"/>
              </a:rPr>
              <a:t>the embedded history database assumes one backend writer.</a:t>
            </a:r>
          </a:p>
          <a:p xmlns:a="http://schemas.openxmlformats.org/drawingml/2006/main">
            <a:pPr marL="28" indent="-15">
              <a:spcAft>
                <a:spcPts val="7"/>
              </a:spcAft>
              <a:buChar char="•"/>
              <a:defRPr sz="1500">
                <a:solidFill>
                  <a:srgbClr val="000000"/>
                </a:solidFill>
                <a:latin typeface="Aptos"/>
                <a:ea typeface="Aptos"/>
                <a:cs typeface="Aptos"/>
              </a:defRPr>
            </a:pPr>
            <a:r>
              <a:rPr sz="1500" b="1">
                <a:solidFill>
                  <a:srgbClr val="000000"/>
                </a:solidFill>
                <a:latin typeface="Aptos"/>
                <a:ea typeface="Aptos"/>
                <a:cs typeface="Aptos"/>
              </a:rPr>
              <a:t> Scope: </a:t>
            </a:r>
            <a:r>
              <a:rPr sz="1500">
                <a:solidFill>
                  <a:srgbClr val="000000"/>
                </a:solidFill>
                <a:latin typeface="Aptos"/>
                <a:ea typeface="Aptos"/>
                <a:cs typeface="Aptos"/>
              </a:rPr>
              <a:t>KubeView does not store metrics, traces or a complete long-term log archive.</a:t>
            </a:r>
          </a:p>
        </p:txBody>
      </p:sp>
    </p:spTree>
    <p:extLst>
      <p:ext uri="{BB962C8B-B14F-4D97-AF65-F5344CB8AC3E}">
        <p14:creationId xmlns:p14="http://schemas.microsoft.com/office/powerpoint/2010/main" val="41831413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7D6573-E9C4-4B60-A39B-5366B339EC9B}"/>
              </a:ext>
            </a:extLst>
          </p:cNvPr>
          <p:cNvSpPr>
            <a:spLocks xmlns:a="http://schemas.openxmlformats.org/drawingml/2006/main" noGrp="1"/>
          </p:cNvSpPr>
          <p:nvPr>
            <p:ph type="title" idx="0"/>
          </p:nvPr>
        </p:nvSpPr>
        <p:spPr>
          <a:xfrm xmlns:a="http://schemas.openxmlformats.org/drawingml/2006/main">
            <a:off x="331470" y="349853"/>
            <a:ext cx="6995160" cy="930688"/>
          </a:xfrm>
        </p:spPr>
        <p:txBody>
          <a:bodyPr xmlns:a="http://schemas.openxmlformats.org/drawingml/2006/main"/>
          <a:lstStyle xmlns:a="http://schemas.openxmlformats.org/drawingml/2006/main"/>
          <a:p xmlns:a="http://schemas.openxmlformats.org/drawingml/2006/main">
            <a:r>
              <a:t>Conclusion and future work</a:t>
            </a:r>
          </a:p>
        </p:txBody>
      </p:sp>
      <p:sp>
        <p:nvSpPr>
          <p:cNvPr id="3" name="Content Placeholder 2">
            <a:extLst xmlns:a="http://schemas.openxmlformats.org/drawingml/2006/main">
              <a:ext uri="{FF2B5EF4-FFF2-40B4-BE49-F238E27FC236}">
                <a16:creationId xmlns:a16="http://schemas.microsoft.com/office/drawing/2014/main" id="{3627FAC9-D7B2-461F-AF90-A3BF84E6BF41}"/>
              </a:ext>
            </a:extLst>
          </p:cNvPr>
          <p:cNvSpPr>
            <a:spLocks xmlns:a="http://schemas.openxmlformats.org/drawingml/2006/main" noGrp="1"/>
          </p:cNvSpPr>
          <p:nvPr>
            <p:ph idx="1"/>
          </p:nvPr>
        </p:nvSpPr>
        <p:spPr>
          <a:xfrm xmlns:a="http://schemas.openxmlformats.org/drawingml/2006/main">
            <a:off x="400050" y="1825657"/>
            <a:ext cx="8492490" cy="4351306"/>
          </a:xfrm>
        </p:spPr>
        <p:txBody>
          <a:bodyPr xmlns:a="http://schemas.openxmlformats.org/drawingml/2006/main" lIns="95250" tIns="47625" rIns="95250" bIns="47625" anchor="t">
            <a:normAutofit fontScale="100000"/>
          </a:bodyPr>
          <a:lstStyle xmlns:a="http://schemas.openxmlformats.org/drawingml/2006/main"/>
          <a:p xmlns:a="http://schemas.openxmlformats.org/drawingml/2006/main">
            <a:pPr marL="0" indent="0">
              <a:spcBef>
                <a:spcPts val="3"/>
              </a:spcBef>
              <a:spcAft>
                <a:spcPts val="7"/>
              </a:spcAft>
              <a:buNone/>
              <a:defRPr sz="1500">
                <a:solidFill>
                  <a:srgbClr val="000000"/>
                </a:solidFill>
                <a:latin typeface="Aptos"/>
                <a:ea typeface="Aptos"/>
                <a:cs typeface="Aptos"/>
              </a:defRPr>
            </a:pPr>
            <a:r>
              <a:rPr sz="1500" b="1">
                <a:solidFill>
                  <a:srgbClr val="000000"/>
                </a:solidFill>
                <a:latin typeface="Aptos"/>
                <a:ea typeface="Aptos"/>
                <a:cs typeface="Aptos"/>
              </a:rPr>
              <a:t>Delivered</a:t>
            </a:r>
          </a:p>
          <a:p xmlns:a="http://schemas.openxmlformats.org/drawingml/2006/main">
            <a:pPr marL="28" indent="-15">
              <a:spcAft>
                <a:spcPts val="11"/>
              </a:spcAft>
              <a:buChar char="•"/>
              <a:defRPr sz="1500">
                <a:solidFill>
                  <a:srgbClr val="000000"/>
                </a:solidFill>
                <a:latin typeface="Aptos"/>
                <a:ea typeface="Aptos"/>
                <a:cs typeface="Aptos"/>
              </a:defRPr>
            </a:pPr>
            <a:r>
              <a:rPr sz="1500" b="1">
                <a:solidFill>
                  <a:srgbClr val="000000"/>
                </a:solidFill>
                <a:latin typeface="Aptos"/>
                <a:ea typeface="Aptos"/>
                <a:cs typeface="Aptos"/>
              </a:rPr>
              <a:t> One workflow: </a:t>
            </a:r>
            <a:r>
              <a:rPr sz="1500">
                <a:solidFill>
                  <a:srgbClr val="000000"/>
                </a:solidFill>
                <a:latin typeface="Aptos"/>
                <a:ea typeface="Aptos"/>
                <a:cs typeface="Aptos"/>
              </a:rPr>
              <a:t>live resources, pod logs, context switching, watch updates and recent historical replay.</a:t>
            </a:r>
          </a:p>
          <a:p xmlns:a="http://schemas.openxmlformats.org/drawingml/2006/main">
            <a:pPr marL="28" indent="-15">
              <a:spcAft>
                <a:spcPts val="11"/>
              </a:spcAft>
              <a:buChar char="•"/>
              <a:defRPr sz="1500">
                <a:solidFill>
                  <a:srgbClr val="000000"/>
                </a:solidFill>
                <a:latin typeface="Aptos"/>
                <a:ea typeface="Aptos"/>
                <a:cs typeface="Aptos"/>
              </a:defRPr>
            </a:pPr>
            <a:r>
              <a:rPr sz="1500" b="1">
                <a:solidFill>
                  <a:srgbClr val="000000"/>
                </a:solidFill>
                <a:latin typeface="Aptos"/>
                <a:ea typeface="Aptos"/>
                <a:cs typeface="Aptos"/>
              </a:rPr>
              <a:t> Read-only by design: </a:t>
            </a:r>
            <a:r>
              <a:rPr sz="1500">
                <a:solidFill>
                  <a:srgbClr val="000000"/>
                </a:solidFill>
                <a:latin typeface="Aptos"/>
                <a:ea typeface="Aptos"/>
                <a:cs typeface="Aptos"/>
              </a:rPr>
              <a:t>inspection routes and get/list/watch RBAC keep mutation outside the product.</a:t>
            </a:r>
          </a:p>
          <a:p xmlns:a="http://schemas.openxmlformats.org/drawingml/2006/main">
            <a:pPr marL="28" indent="-15">
              <a:spcAft>
                <a:spcPts val="11"/>
              </a:spcAft>
              <a:buChar char="•"/>
              <a:defRPr sz="1500">
                <a:solidFill>
                  <a:srgbClr val="000000"/>
                </a:solidFill>
                <a:latin typeface="Aptos"/>
                <a:ea typeface="Aptos"/>
                <a:cs typeface="Aptos"/>
              </a:defRPr>
            </a:pPr>
            <a:r>
              <a:rPr sz="1500" b="1">
                <a:solidFill>
                  <a:srgbClr val="000000"/>
                </a:solidFill>
                <a:latin typeface="Aptos"/>
                <a:ea typeface="Aptos"/>
                <a:cs typeface="Aptos"/>
              </a:rPr>
              <a:t> Evidence: </a:t>
            </a:r>
            <a:r>
              <a:rPr sz="1500">
                <a:solidFill>
                  <a:srgbClr val="000000"/>
                </a:solidFill>
                <a:latin typeface="Aptos"/>
                <a:ea typeface="Aptos"/>
                <a:cs typeface="Aptos"/>
              </a:rPr>
              <a:t>backend, frontend, security and real-cluster browser checks run in CI.</a:t>
            </a:r>
          </a:p>
          <a:p xmlns:a="http://schemas.openxmlformats.org/drawingml/2006/main">
            <a:pPr marL="0" indent="0">
              <a:spcBef>
                <a:spcPts val="3"/>
              </a:spcBef>
              <a:spcAft>
                <a:spcPts val="7"/>
              </a:spcAft>
              <a:buNone/>
              <a:defRPr sz="1500">
                <a:solidFill>
                  <a:srgbClr val="000000"/>
                </a:solidFill>
                <a:latin typeface="Aptos"/>
                <a:ea typeface="Aptos"/>
                <a:cs typeface="Aptos"/>
              </a:defRPr>
            </a:pPr>
            <a:r>
              <a:rPr sz="1500" b="1">
                <a:solidFill>
                  <a:srgbClr val="000000"/>
                </a:solidFill>
                <a:latin typeface="Aptos"/>
                <a:ea typeface="Aptos"/>
                <a:cs typeface="Aptos"/>
              </a:rPr>
              <a:t>Next</a:t>
            </a:r>
          </a:p>
          <a:p xmlns:a="http://schemas.openxmlformats.org/drawingml/2006/main">
            <a:pPr marL="28" indent="-15">
              <a:spcAft>
                <a:spcPts val="11"/>
              </a:spcAft>
              <a:buChar char="•"/>
              <a:defRPr sz="1500">
                <a:solidFill>
                  <a:srgbClr val="000000"/>
                </a:solidFill>
                <a:latin typeface="Aptos"/>
                <a:ea typeface="Aptos"/>
                <a:cs typeface="Aptos"/>
              </a:defRPr>
            </a:pPr>
            <a:r>
              <a:rPr sz="1500" b="1">
                <a:solidFill>
                  <a:srgbClr val="000000"/>
                </a:solidFill>
                <a:latin typeface="Aptos"/>
                <a:ea typeface="Aptos"/>
                <a:cs typeface="Aptos"/>
              </a:rPr>
              <a:t> Production access: </a:t>
            </a:r>
            <a:r>
              <a:rPr sz="1500">
                <a:solidFill>
                  <a:srgbClr val="000000"/>
                </a:solidFill>
                <a:latin typeface="Aptos"/>
                <a:ea typeface="Aptos"/>
                <a:cs typeface="Aptos"/>
              </a:rPr>
              <a:t>integrated authentication and per-user authorization.</a:t>
            </a:r>
          </a:p>
          <a:p xmlns:a="http://schemas.openxmlformats.org/drawingml/2006/main">
            <a:pPr marL="28" indent="-15">
              <a:spcAft>
                <a:spcPts val="11"/>
              </a:spcAft>
              <a:buChar char="•"/>
              <a:defRPr sz="1500">
                <a:solidFill>
                  <a:srgbClr val="000000"/>
                </a:solidFill>
                <a:latin typeface="Aptos"/>
                <a:ea typeface="Aptos"/>
                <a:cs typeface="Aptos"/>
              </a:defRPr>
            </a:pPr>
            <a:r>
              <a:rPr sz="1500" b="1">
                <a:solidFill>
                  <a:srgbClr val="000000"/>
                </a:solidFill>
                <a:latin typeface="Aptos"/>
                <a:ea typeface="Aptos"/>
                <a:cs typeface="Aptos"/>
              </a:rPr>
              <a:t> Scale: </a:t>
            </a:r>
            <a:r>
              <a:rPr sz="1500">
                <a:solidFill>
                  <a:srgbClr val="000000"/>
                </a:solidFill>
                <a:latin typeface="Aptos"/>
                <a:ea typeface="Aptos"/>
                <a:cs typeface="Aptos"/>
              </a:rPr>
              <a:t>shared history storage, load testing, accessibility validation, metrics and CRDs.</a:t>
            </a:r>
          </a:p>
          <a:p xmlns:a="http://schemas.openxmlformats.org/drawingml/2006/main">
            <a:pPr marL="0" indent="0">
              <a:spcBef>
                <a:spcPts val="10"/>
              </a:spcBef>
              <a:buNone/>
              <a:defRPr sz="1500">
                <a:solidFill>
                  <a:srgbClr val="000000"/>
                </a:solidFill>
                <a:latin typeface="Aptos"/>
                <a:ea typeface="Aptos"/>
                <a:cs typeface="Aptos"/>
              </a:defRPr>
            </a:pPr>
            <a:r>
              <a:rPr sz="1500" b="1">
                <a:solidFill>
                  <a:srgbClr val="000000"/>
                </a:solidFill>
                <a:latin typeface="Aptos"/>
                <a:ea typeface="Aptos"/>
                <a:cs typeface="Aptos"/>
              </a:rPr>
              <a:t>KubeView helps an operator answer what is wrong now and what changed before it.</a:t>
            </a:r>
          </a:p>
        </p:txBody>
      </p:sp>
    </p:spTree>
    <p:extLst>
      <p:ext uri="{BB962C8B-B14F-4D97-AF65-F5344CB8AC3E}">
        <p14:creationId xmlns:p14="http://schemas.microsoft.com/office/powerpoint/2010/main" val="685010560"/>
      </p:ext>
    </p:extLst>
  </p:cSld>
</p:sld>
</file>

<file path=ppt/theme/theme1.xml><?xml version="1.0" encoding="utf-8"?>
<a:theme xmlns:a="http://schemas.openxmlformats.org/drawingml/2006/main" name="Capstone Meeting">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2026-09-02T15:51:41.4950000Z</dcterms:created>
  <dcterms:modified xsi:type="dcterms:W3CDTF">2026-09-02T15:51:41.4950000Z</dcterms:modified>
</coreProperties>
</file>